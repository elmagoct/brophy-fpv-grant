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arm the deck, the screen says DISARMED. Tap it. Let the props spin up before you say a word.)
Good morning. I'm Micah Tucker, president of the FPV Club, and this is [EDIT: names of the members presenting with you, and their roles — e.g. Marco, our editor].
We're asking for two thousand dollars. But I want to be honest about what the money is really for, because it isn't the drones.
[EDIT: one sentence on why you fly — the first time you put goggles on, or the first shot you got of campus. Make it short and real.]
What we are proposing is a certification program. Twenty-eight badges, four tiers of equipment, and a rule that nobody flies anything they haven't earned the badge for. The drones in the budget are the training fleet that program runs on.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I want you to know is that this club didn't wait to be funded.
[Click: five simulators]
Over the summer [EDIT: when exactly — e.g. "in August, in the weeks before school started"] we set up five FPV simulators in the IC. They're open to anyone, every school day, seven to four, around class periods.
[Click: the kiosk]
[EDIT: who built the kiosk, and how long it took — e.g. "I built the kiosk software myself over about three weeks."] You walk up, tap your name, pick a simulator, and fly. The machine logs your hours by itself, keeps a leaderboard, and signs you out when you walk away.
[Click: Ground School]
While someone else has the seat, the same machine runs Ground School: lessons and quizzes on batteries, safety, radio links, airspace.
[Click: the website]
The numbers on the right are not from a slide. They're being read live from the lab right now. [EDIT: read the real number out loud — "that's X hours flown by Y students since August."] [EDIT: name the person at the top of the leaderboard and roughly how many hours they have; ask them to raise a hand if they're in the room.]
None of that cost the school anything. [EDIT: verify this — if any school equipment or licences were used, say exactly what.]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we need a badge program at all?
[Click: skills leave with seniors]
Every year a club like this starts over. The two people who knew how to build, tune and fly graduate, and nothing is written down. [EDIT: if you have a real example — a club or team at Brophy or elsewhere that lost its knowledge when a class left — use it.]
[Click: who may fly what]
Right now, if the school bought a drone tomorrow, nobody could say who is allowed to fly it. That's not a safe place for expensive equipment to be.
[Click: not a toy]
FPV looks like a toy until it isn't. Lithium batteries are the biggest real fire risk in the hobby. Brophy sits near Sky Harbor's controlled airspace. There is no written safety standard for any of that today.
[Click: students with no path]
And we have students, [EDIT: the actual number — "eight right now"], who want to fly and film for the school and have no path from "interested" to "trusted with a camera drone at a football game."
The box on the right is the whole pitch in two paragraphs. A normal grant buys drones; they get flown by the two people who already knew how. We're asking for the thing the school gets to keep.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idea in one sentence: badges unlock gear.
[Click: a badge is one testable skill]
A badge is one specific, testable skill, signed off by a certified member. Not attendance. You do the thing in front of someone who holds the badge.
[Click: the gate opens]
Earn every badge in a tier and the gate opens. The next drone is yours to fly.
[Click: four tiers]
Four tiers. The simulator, which is free and where crashes cost nothing. A tiny whoop that weighs less than a smartphone. Full-size camera drones. And Event Pilot, which is the only tier allowed to fly in front of a crowd.
[Click: never in untrained hands]
So the expensive gear is never in untrained hands, and the answer to "who may fly what" is written on a board, not remembered by whoever is around.
[Click: the live rendering]
What you're watching on the right is the club's actual badge catalogue, the same file the website runs on, animating one pilot climbing from the first sim hour to Event Pilot.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sheet has no bullets. The explorer cycles through badges on its own; tap one to hold it.)
Twenty-eight badges in four tracks: Flight, Build and Tech, Knowledge and Safety, Crew and Leadership.
Every badge has a "why" written on it: what goes wrong without it. Battery Care exists because LiPos are the biggest fire risk in the hobby. Airspace exists because we're near Sky Harbor. Spotter exists because an FPV pilot literally cannot see around themselves.
Tap two or three. I'd suggest Mentor and Examiner, because they are the ones that make this a program and not a club: Mentor is "coach a new member through their first two badges," and Examiner defines who is allowed to sign a badge off.
[EDIT: pick the one badge that means the most to you and say why — e.g. the first time you soldered an ESC, or the day you realised a flyaway needed a plan.]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badge actually get earned? Three ways, plus one official one.
[Click: quiz badges]
Knowledge badges are quizzes. Short lessons, then ten questions drawn from that badge's pool. Eighty percent passes. You can retake as often as you like; your best score counts. The kiosk awards those by itself.
[Click: bench badges]
Bench badges are hands-on: a step-by-step checklist on the kiosk or on your phone. You tick the boxes, DM a photo of the work, and an instructor approves it.
[Click: witnessed badges]
Witnessed badges are the flying ones. An examiner who already holds the badge watches you do it against the standard printed on the card. For Tiny Whoop that's take-off, a figure-eight through two gates, an orbit, and a landing on the pad with no wall contact.
[Click: FAA TRUST]
And before anyone touches a real drone, the free FAA TRUST certificate. Twenty minutes, can't be failed, zero cost to the school or the student.
[Click: students run every sign-off]
The point to hold onto: students run all of it. The sign-offs, the study material, the mentoring. The only thing this program needs from the school is the training fleet.
The frame on the right is the real website cycling through its pages. [EDIT: if you have the deck on a phone, hand it to a committee member and have them scan the Flight School QR later.]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classroom part is not a plan. It's built.
[Click: 45 lessons]
Forty-five lessons, about a hundred and forty minutes of material, one module per knowledge badge. [EDIT: who wrote the lessons, and over what period.]
[Click: kiosk and phone]
It runs on the kiosk and on any phone. Progress follows the pilot: pass a quiz on your phone at lunch and it shows up on the kiosk.
[Click: stick drills]
Some lessons are drills on the real transmitter: a hover trainer, orientation recovery, your first flip and roll. You learn the sticks before you have a drone.
[Click: written by students]
It was written by students and it's maintained by students, so a new member has something to do on day one even when every seat is taken.
[EDIT: one real moment — a new member who finished a module before ever flying, or a quiz question that turned out to be harder than you expected.]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make people fly a simulator for seven and a half hours first?
[Click: 7.5 hours]
Because crashes should cost nothing while you're learning. In the sim you can crash a hundred times a night and the only thing you lose is pride.
[Click: Proficient Flight is sim-only]
Proficient Flight is sim-only on purpose. Orbit, Split-S, gaps, finish a race. It's the badge that gates the first real battery.
[Click: Line of Sight]
Line of Sight is the one people skip in other clubs: without goggles, take off, hover and land in self-levelling mode. Because if your video feed cuts out, you need to be able to look up and land the drone.
[Click: then a sub-250 g whoop]
Then your first real aircraft is a tiny whoop that can't do much damage. Full-size only after Freestyle, Electrical Components, Radio Protocol and Field Repair.
[Click: every gate is placed where mistakes start to cost]
Every gate sits exactly where the next mistake starts to cost real money or real safety.
The card on the right is a simplified version of the kiosk's pilot card, sped up: watch the Simulator Flight bar hit seven and a half hours and turn green. [EDIT: if the Liftoff screenshot is in, point at it: "that's what the pilot sees."]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sheet I care about most. [EDIT: say why — e.g. "I'm a senior. Whatever we build this year has to work without me in it."]
[Click: Mentor]
The Mentor badge: coach a new member through their first two badges. The program trains its own replacements.
[Click: Examiner]
The Examiner badge: who may sign things off is defined by the badges they hold plus an officer's approval. Not by who's loudest.
[Click: Fleet Steward]
Fleet Steward: run the check-in/check-out sheet and a maintenance log for school-funded gear for a semester. Accountability is a badge, not a chore.
[Click: everything is written down]
Everything is written down. The safety rules, the badge sheet, seven printed posters that hang above the sims, and a website that runs itself.
[Click: every award is recorded and signed]
Every award is recorded and signed by the instructor who approved it, and progress only moves forward. A badge can't be lost in a drawer.
[Click: gear bought to last]
And the gear is bought to last: goggles and radios about eight years, airframes about four. This is a one-time build-out. We are not planning to be back next year asking for the same thing.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student actually get out of this?
[Click: hands]
Hands. Soldering, electronics, firmware, field repair. Skills that transfer directly to robotics and engineering. [EDIT: if any members are also on Broncobots or in an engineering class, say so.]
[Click: judgment]
Judgment. Airspace law, the FAA certificate, emergency procedures, battery safety. Responsibility, not just reflexes.
[Click: professionalism]
Professionalism. Shot Planning means writing a shot list and agreeing it with a coach or a moderator. Event Ops means setting up a flight zone and briefing bystanders. Those are real skills in dealing with adults.
[Click: teaching]
Teaching. The path ends with coaching the next class, then examining them.
[Click: a record]
And a record: a badge board that says exactly what you can do, visible to anyone.
[EDIT: name one member and what they've already earned or learned this fall. Specific beats general.]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what does Brophy get?
[Click: a standing program]
A standing program with a written safety standard and a clear answer to who may fly what. FAA TRUST for every flying member. Nothing over 250 grams until the top tier.
[Click: a pipeline]
A pipeline of trained pilots every year. New members start on Simulator Flight the week they join. We already share fifteen community-period meetings a year with RC Club. [EDIT: anything about the RC Club relationship worth saying.]
[Click: the output]
And the output, which I've deliberately kept to one box: Best of Brophy, short aerial clips any team or club can use, cut into a showcase film each semester. And, if Student Council and Student Activities approve it, a live FPV race at the pep rally with the pilot's-eye feed on the scoreboard.
[Click: a model other clubs can copy]
The last thing is the one I'd ask you to remember. Badge, gate, gear is not a drone idea. Any club with expensive tools and a safety question can run the same system.
[Click: the dashboard]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said I wouldn't talk much about the drones, so here's the whole equipment story in four cards.
[Click: trainers]
Two Meteor 75 Pro tiny whoops. Under 250 grams, ducted props, safe indoors, and cheap to crash. Eight students are training right now without a drone to share. Two trainers means two first flights at once.
[Click: pilot kit]
Two sets of goggles and radios. Two pilots can train or fly at the same time, and this is the part that lasts eight years.
[Click: camera ship]
One Pavo 20 Pro cinewhoop. Ducted so it can fly near people, with a camera that shoots flat footage we can grade. It's what Best of Brophy is shot on, and the airframe the top-tier badges are tested on.
[Click: keep it flying]
Spares, batteries, a smoke stopper and screwdrivers. Members fix what they break; that's the Field Repair badge. A crash becomes a repair lesson instead of a purchase order.
[Click: the total]
About nineteen hundred and seventy-five dollars, inside the two-thousand-dollar ask. [EDIT: who has donated what — "several members are donating X, Y, Z."] The full list, with a reason beside every line, is in the proposal.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ask.
[Click: the badge program]
Two thousand dollars, tied to three specific projects. The badge program, which runs inside every club meeting.
[Click: Best of Brophy]
Best of Brophy through the year.
[Click: the rally race]
And the pep-rally race, if Stuco and Student Activities want it. If the rally slot doesn't happen, the same course becomes a lunch or community-period race, so the equipment is useful either way.
[Click: next steps]
Next steps: this goes to Mr. Reasy, then to Mr. Burr for Student Activities sign-off, then to Student Council about the rally, and then we pitch it at the fall assembly alongside recruiting.
[Click: once funded]
Once it's funded: order the fleet, publish the badge sheet, certify our current pilots as examiners, and start every new member on Simulator Flight.
The big QR code is the official proposal. Scan it now if you like; it has the full badge list, the budget line by line, and the timeline.
[Click → next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Pilots before drones.
Everything is on the screen: the proposal, this pitch, the live dashboard, Flight School, the posters, and the club's flight reel.
[EDIT: close with one line that is yours. Something like: "The sim lab is open tomorrow at seven. Come fly."]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4"/>
        </a:solidFill>
      </p:bgPr>
    </p:bg>
    <p:spTree>
      <p:nvGrpSpPr>
        <p:cNvPr id="1" name=""/>
        <p:cNvGrpSpPr/>
        <p:nvPr/>
      </p:nvGrpSpPr>
      <p:grpSpPr>
        <a:xfrm>
          <a:off x="0" y="0"/>
          <a:ext cx="0" cy="0"/>
          <a:chOff x="0" y="0"/>
          <a:chExt cx="0" cy="0"/>
        </a:xfrm>
      </p:grpSpPr>
      <p:sp>
        <p:nvSpPr>
          <p:cNvPr id="3" name="Text 0"/>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 / 14  ·  Brophy FPV Club  ·  grant 2026–27</a:t>
            </a:r>
            <a:endParaRPr lang="en-US" sz="800" dirty="0"/>
          </a:p>
        </p:txBody>
      </p:sp>
      <p:sp>
        <p:nvSpPr>
          <p:cNvPr id="4" name="Text 1"/>
          <p:cNvSpPr txBox="1"/>
          <p:nvPr/>
        </p:nvSpPr>
        <p:spPr>
          <a:xfrm>
            <a:off x="457200" y="457200"/>
            <a:ext cx="8229600" cy="274320"/>
          </a:xfrm>
          <a:prstGeom prst="rect">
            <a:avLst/>
          </a:prstGeom>
          <a:noFill/>
          <a:ln/>
        </p:spPr>
        <p:txBody>
          <a:bodyPr wrap="square" lIns="0" tIns="0" rIns="0" bIns="0" rtlCol="0" anchor="ctr"/>
          <a:lstStyle/>
          <a:p>
            <a:pPr indent="0" marL="0">
              <a:buNone/>
            </a:pPr>
            <a:r>
              <a:rPr lang="en-US" sz="1000" spc="300" kern="0" dirty="0">
                <a:solidFill>
                  <a:srgbClr val="DFE9C9"/>
                </a:solidFill>
                <a:latin typeface="Courier New" pitchFamily="34" charset="0"/>
                <a:ea typeface="Courier New" pitchFamily="34" charset="-122"/>
                <a:cs typeface="Courier New" pitchFamily="34" charset="-120"/>
              </a:rPr>
              <a:t>FPV CLUB · BROPHY COLLEGE PREPARATORY · 2026–27</a:t>
            </a:r>
            <a:endParaRPr lang="en-US" sz="1000" dirty="0"/>
          </a:p>
        </p:txBody>
      </p:sp>
      <p:sp>
        <p:nvSpPr>
          <p:cNvPr id="5" name="Text 2"/>
          <p:cNvSpPr txBox="1"/>
          <p:nvPr/>
        </p:nvSpPr>
        <p:spPr>
          <a:xfrm>
            <a:off x="457200" y="914400"/>
            <a:ext cx="8229600" cy="1188720"/>
          </a:xfrm>
          <a:prstGeom prst="rect">
            <a:avLst/>
          </a:prstGeom>
          <a:noFill/>
          <a:ln/>
        </p:spPr>
        <p:txBody>
          <a:bodyPr wrap="square" lIns="0" tIns="0" rIns="0" bIns="0" rtlCol="0" anchor="ctr"/>
          <a:lstStyle/>
          <a:p>
            <a:pPr indent="0" marL="0">
              <a:buNone/>
            </a:pPr>
            <a:r>
              <a:rPr lang="en-US" sz="6000" b="1" dirty="0">
                <a:solidFill>
                  <a:srgbClr val="DFE9C9"/>
                </a:solidFill>
              </a:rPr>
              <a:t>Pilots before drones.</a:t>
            </a:r>
            <a:endParaRPr lang="en-US" sz="6000" dirty="0"/>
          </a:p>
        </p:txBody>
      </p:sp>
      <p:sp>
        <p:nvSpPr>
          <p:cNvPr id="6" name="Text 3"/>
          <p:cNvSpPr txBox="1"/>
          <p:nvPr/>
        </p:nvSpPr>
        <p:spPr>
          <a:xfrm>
            <a:off x="457200" y="2194560"/>
            <a:ext cx="7863840" cy="914400"/>
          </a:xfrm>
          <a:prstGeom prst="rect">
            <a:avLst/>
          </a:prstGeom>
          <a:noFill/>
          <a:ln/>
        </p:spPr>
        <p:txBody>
          <a:bodyPr wrap="square" lIns="0" tIns="0" rIns="0" bIns="0" rtlCol="0" anchor="t"/>
          <a:lstStyle/>
          <a:p>
            <a:pPr indent="0" marL="0">
              <a:buNone/>
            </a:pPr>
            <a:r>
              <a:rPr lang="en-US" sz="1600" b="1" dirty="0">
                <a:solidFill>
                  <a:srgbClr val="B9C4D6"/>
                </a:solidFill>
              </a:rPr>
              <a:t>The Brophy FPV Badge Program: </a:t>
            </a:r>
            <a:pPr indent="0" marL="0">
              <a:buNone/>
            </a:pPr>
            <a:r>
              <a:rPr lang="en-US" sz="1600" dirty="0">
                <a:solidFill>
                  <a:srgbClr val="B9C4D6"/>
                </a:solidFill>
              </a:rPr>
              <a:t>a standing certification path that turns beginners into responsible pilots, is taught by students, and outlives any one class of members.</a:t>
            </a:r>
            <a:endParaRPr lang="en-US" sz="1600" dirty="0"/>
          </a:p>
        </p:txBody>
      </p:sp>
      <p:sp>
        <p:nvSpPr>
          <p:cNvPr id="7" name="Shape 4"/>
          <p:cNvSpPr/>
          <p:nvPr/>
        </p:nvSpPr>
        <p:spPr>
          <a:xfrm>
            <a:off x="457200" y="3383280"/>
            <a:ext cx="1920240" cy="914400"/>
          </a:xfrm>
          <a:prstGeom prst="roundRect">
            <a:avLst>
              <a:gd name="adj" fmla="val 6000"/>
            </a:avLst>
          </a:prstGeom>
          <a:solidFill>
            <a:srgbClr val="101C31"/>
          </a:solidFill>
          <a:ln w="9525">
            <a:solidFill>
              <a:srgbClr val="3A4A66"/>
            </a:solidFill>
            <a:prstDash val="solid"/>
          </a:ln>
        </p:spPr>
      </p:sp>
      <p:sp>
        <p:nvSpPr>
          <p:cNvPr id="8" name="Text 5"/>
          <p:cNvSpPr txBox="1"/>
          <p:nvPr/>
        </p:nvSpPr>
        <p:spPr>
          <a:xfrm>
            <a:off x="594360" y="3429000"/>
            <a:ext cx="1737360" cy="502920"/>
          </a:xfrm>
          <a:prstGeom prst="rect">
            <a:avLst/>
          </a:prstGeom>
          <a:noFill/>
          <a:ln/>
        </p:spPr>
        <p:txBody>
          <a:bodyPr wrap="square" lIns="0" tIns="0" rIns="0" bIns="0" rtlCol="0" anchor="ctr"/>
          <a:lstStyle/>
          <a:p>
            <a:pPr indent="0" marL="0">
              <a:buNone/>
            </a:pPr>
            <a:r>
              <a:rPr lang="en-US" sz="2600" dirty="0">
                <a:solidFill>
                  <a:srgbClr val="DFE9C9"/>
                </a:solidFill>
                <a:latin typeface="Courier New" pitchFamily="34" charset="0"/>
                <a:ea typeface="Courier New" pitchFamily="34" charset="-122"/>
                <a:cs typeface="Courier New" pitchFamily="34" charset="-120"/>
              </a:rPr>
              <a:t>$2,000</a:t>
            </a:r>
            <a:endParaRPr lang="en-US" sz="2600" dirty="0"/>
          </a:p>
        </p:txBody>
      </p:sp>
      <p:sp>
        <p:nvSpPr>
          <p:cNvPr id="9" name="Text 6"/>
          <p:cNvSpPr txBox="1"/>
          <p:nvPr/>
        </p:nvSpPr>
        <p:spPr>
          <a:xfrm>
            <a:off x="594360" y="3931920"/>
            <a:ext cx="1737360" cy="274320"/>
          </a:xfrm>
          <a:prstGeom prst="rect">
            <a:avLst/>
          </a:prstGeom>
          <a:noFill/>
          <a:ln/>
        </p:spPr>
        <p:txBody>
          <a:bodyPr wrap="square" lIns="0" tIns="0" rIns="0" bIns="0" rtlCol="0" anchor="ctr"/>
          <a:lstStyle/>
          <a:p>
            <a:pPr indent="0" marL="0">
              <a:buNone/>
            </a:pPr>
            <a:r>
              <a:rPr lang="en-US" sz="750" spc="200" kern="0" dirty="0">
                <a:solidFill>
                  <a:srgbClr val="9FB0C8"/>
                </a:solidFill>
                <a:latin typeface="Courier New" pitchFamily="34" charset="0"/>
                <a:ea typeface="Courier New" pitchFamily="34" charset="-122"/>
                <a:cs typeface="Courier New" pitchFamily="34" charset="-120"/>
              </a:rPr>
              <a:t>ONE-TIME ASK</a:t>
            </a:r>
            <a:endParaRPr lang="en-US" sz="750" dirty="0"/>
          </a:p>
        </p:txBody>
      </p:sp>
      <p:sp>
        <p:nvSpPr>
          <p:cNvPr id="10" name="Shape 7"/>
          <p:cNvSpPr/>
          <p:nvPr/>
        </p:nvSpPr>
        <p:spPr>
          <a:xfrm>
            <a:off x="2560320" y="3383280"/>
            <a:ext cx="1920240" cy="914400"/>
          </a:xfrm>
          <a:prstGeom prst="roundRect">
            <a:avLst>
              <a:gd name="adj" fmla="val 6000"/>
            </a:avLst>
          </a:prstGeom>
          <a:solidFill>
            <a:srgbClr val="101C31"/>
          </a:solidFill>
          <a:ln w="9525">
            <a:solidFill>
              <a:srgbClr val="3A4A66"/>
            </a:solidFill>
            <a:prstDash val="solid"/>
          </a:ln>
        </p:spPr>
      </p:sp>
      <p:sp>
        <p:nvSpPr>
          <p:cNvPr id="11" name="Text 8"/>
          <p:cNvSpPr txBox="1"/>
          <p:nvPr/>
        </p:nvSpPr>
        <p:spPr>
          <a:xfrm>
            <a:off x="2697480" y="3429000"/>
            <a:ext cx="1737360" cy="502920"/>
          </a:xfrm>
          <a:prstGeom prst="rect">
            <a:avLst/>
          </a:prstGeom>
          <a:noFill/>
          <a:ln/>
        </p:spPr>
        <p:txBody>
          <a:bodyPr wrap="square" lIns="0" tIns="0" rIns="0" bIns="0" rtlCol="0" anchor="ctr"/>
          <a:lstStyle/>
          <a:p>
            <a:pPr indent="0" marL="0">
              <a:buNone/>
            </a:pPr>
            <a:r>
              <a:rPr lang="en-US" sz="2600" dirty="0">
                <a:solidFill>
                  <a:srgbClr val="DFE9C9"/>
                </a:solidFill>
                <a:latin typeface="Courier New" pitchFamily="34" charset="0"/>
                <a:ea typeface="Courier New" pitchFamily="34" charset="-122"/>
                <a:cs typeface="Courier New" pitchFamily="34" charset="-120"/>
              </a:rPr>
              <a:t>28</a:t>
            </a:r>
            <a:endParaRPr lang="en-US" sz="2600" dirty="0"/>
          </a:p>
        </p:txBody>
      </p:sp>
      <p:sp>
        <p:nvSpPr>
          <p:cNvPr id="12" name="Text 9"/>
          <p:cNvSpPr txBox="1"/>
          <p:nvPr/>
        </p:nvSpPr>
        <p:spPr>
          <a:xfrm>
            <a:off x="2697480" y="3931920"/>
            <a:ext cx="1737360" cy="274320"/>
          </a:xfrm>
          <a:prstGeom prst="rect">
            <a:avLst/>
          </a:prstGeom>
          <a:noFill/>
          <a:ln/>
        </p:spPr>
        <p:txBody>
          <a:bodyPr wrap="square" lIns="0" tIns="0" rIns="0" bIns="0" rtlCol="0" anchor="ctr"/>
          <a:lstStyle/>
          <a:p>
            <a:pPr indent="0" marL="0">
              <a:buNone/>
            </a:pPr>
            <a:r>
              <a:rPr lang="en-US" sz="750" spc="200" kern="0" dirty="0">
                <a:solidFill>
                  <a:srgbClr val="9FB0C8"/>
                </a:solidFill>
                <a:latin typeface="Courier New" pitchFamily="34" charset="0"/>
                <a:ea typeface="Courier New" pitchFamily="34" charset="-122"/>
                <a:cs typeface="Courier New" pitchFamily="34" charset="-120"/>
              </a:rPr>
              <a:t>SKILL BADGES · 4 TRACKS</a:t>
            </a:r>
            <a:endParaRPr lang="en-US" sz="750" dirty="0"/>
          </a:p>
        </p:txBody>
      </p:sp>
      <p:sp>
        <p:nvSpPr>
          <p:cNvPr id="13" name="Shape 10"/>
          <p:cNvSpPr/>
          <p:nvPr/>
        </p:nvSpPr>
        <p:spPr>
          <a:xfrm>
            <a:off x="4663440" y="3383280"/>
            <a:ext cx="1920240" cy="914400"/>
          </a:xfrm>
          <a:prstGeom prst="roundRect">
            <a:avLst>
              <a:gd name="adj" fmla="val 6000"/>
            </a:avLst>
          </a:prstGeom>
          <a:solidFill>
            <a:srgbClr val="101C31"/>
          </a:solidFill>
          <a:ln w="9525">
            <a:solidFill>
              <a:srgbClr val="3A4A66"/>
            </a:solidFill>
            <a:prstDash val="solid"/>
          </a:ln>
        </p:spPr>
      </p:sp>
      <p:sp>
        <p:nvSpPr>
          <p:cNvPr id="14" name="Text 11"/>
          <p:cNvSpPr txBox="1"/>
          <p:nvPr/>
        </p:nvSpPr>
        <p:spPr>
          <a:xfrm>
            <a:off x="4800600" y="3429000"/>
            <a:ext cx="1737360" cy="502920"/>
          </a:xfrm>
          <a:prstGeom prst="rect">
            <a:avLst/>
          </a:prstGeom>
          <a:noFill/>
          <a:ln/>
        </p:spPr>
        <p:txBody>
          <a:bodyPr wrap="square" lIns="0" tIns="0" rIns="0" bIns="0" rtlCol="0" anchor="ctr"/>
          <a:lstStyle/>
          <a:p>
            <a:pPr indent="0" marL="0">
              <a:buNone/>
            </a:pPr>
            <a:r>
              <a:rPr lang="en-US" sz="2600" dirty="0">
                <a:solidFill>
                  <a:srgbClr val="DFE9C9"/>
                </a:solidFill>
                <a:latin typeface="Courier New" pitchFamily="34" charset="0"/>
                <a:ea typeface="Courier New" pitchFamily="34" charset="-122"/>
                <a:cs typeface="Courier New" pitchFamily="34" charset="-120"/>
              </a:rPr>
              <a:t>4</a:t>
            </a:r>
            <a:endParaRPr lang="en-US" sz="2600" dirty="0"/>
          </a:p>
        </p:txBody>
      </p:sp>
      <p:sp>
        <p:nvSpPr>
          <p:cNvPr id="15" name="Text 12"/>
          <p:cNvSpPr txBox="1"/>
          <p:nvPr/>
        </p:nvSpPr>
        <p:spPr>
          <a:xfrm>
            <a:off x="4800600" y="3931920"/>
            <a:ext cx="1737360" cy="274320"/>
          </a:xfrm>
          <a:prstGeom prst="rect">
            <a:avLst/>
          </a:prstGeom>
          <a:noFill/>
          <a:ln/>
        </p:spPr>
        <p:txBody>
          <a:bodyPr wrap="square" lIns="0" tIns="0" rIns="0" bIns="0" rtlCol="0" anchor="ctr"/>
          <a:lstStyle/>
          <a:p>
            <a:pPr indent="0" marL="0">
              <a:buNone/>
            </a:pPr>
            <a:r>
              <a:rPr lang="en-US" sz="750" spc="200" kern="0" dirty="0">
                <a:solidFill>
                  <a:srgbClr val="9FB0C8"/>
                </a:solidFill>
                <a:latin typeface="Courier New" pitchFamily="34" charset="0"/>
                <a:ea typeface="Courier New" pitchFamily="34" charset="-122"/>
                <a:cs typeface="Courier New" pitchFamily="34" charset="-120"/>
              </a:rPr>
              <a:t>EQUIPMENT TIERS, GATED</a:t>
            </a:r>
            <a:endParaRPr lang="en-US" sz="750" dirty="0"/>
          </a:p>
        </p:txBody>
      </p:sp>
      <p:sp>
        <p:nvSpPr>
          <p:cNvPr id="16" name="Shape 13"/>
          <p:cNvSpPr/>
          <p:nvPr/>
        </p:nvSpPr>
        <p:spPr>
          <a:xfrm>
            <a:off x="6766560" y="3383280"/>
            <a:ext cx="1920240" cy="914400"/>
          </a:xfrm>
          <a:prstGeom prst="roundRect">
            <a:avLst>
              <a:gd name="adj" fmla="val 6000"/>
            </a:avLst>
          </a:prstGeom>
          <a:solidFill>
            <a:srgbClr val="101C31"/>
          </a:solidFill>
          <a:ln w="9525">
            <a:solidFill>
              <a:srgbClr val="3A4A66"/>
            </a:solidFill>
            <a:prstDash val="solid"/>
          </a:ln>
        </p:spPr>
      </p:sp>
      <p:sp>
        <p:nvSpPr>
          <p:cNvPr id="17" name="Text 14"/>
          <p:cNvSpPr txBox="1"/>
          <p:nvPr/>
        </p:nvSpPr>
        <p:spPr>
          <a:xfrm>
            <a:off x="6903720" y="3429000"/>
            <a:ext cx="1737360" cy="502920"/>
          </a:xfrm>
          <a:prstGeom prst="rect">
            <a:avLst/>
          </a:prstGeom>
          <a:noFill/>
          <a:ln/>
        </p:spPr>
        <p:txBody>
          <a:bodyPr wrap="square" lIns="0" tIns="0" rIns="0" bIns="0" rtlCol="0" anchor="ctr"/>
          <a:lstStyle/>
          <a:p>
            <a:pPr indent="0" marL="0">
              <a:buNone/>
            </a:pPr>
            <a:r>
              <a:rPr lang="en-US" sz="2600" dirty="0">
                <a:solidFill>
                  <a:srgbClr val="DFE9C9"/>
                </a:solidFill>
                <a:latin typeface="Courier New" pitchFamily="34" charset="0"/>
                <a:ea typeface="Courier New" pitchFamily="34" charset="-122"/>
                <a:cs typeface="Courier New" pitchFamily="34" charset="-120"/>
              </a:rPr>
              <a:t>+8</a:t>
            </a:r>
            <a:endParaRPr lang="en-US" sz="2600" dirty="0"/>
          </a:p>
        </p:txBody>
      </p:sp>
      <p:sp>
        <p:nvSpPr>
          <p:cNvPr id="18" name="Text 15"/>
          <p:cNvSpPr txBox="1"/>
          <p:nvPr/>
        </p:nvSpPr>
        <p:spPr>
          <a:xfrm>
            <a:off x="6903720" y="3931920"/>
            <a:ext cx="1737360" cy="274320"/>
          </a:xfrm>
          <a:prstGeom prst="rect">
            <a:avLst/>
          </a:prstGeom>
          <a:noFill/>
          <a:ln/>
        </p:spPr>
        <p:txBody>
          <a:bodyPr wrap="square" lIns="0" tIns="0" rIns="0" bIns="0" rtlCol="0" anchor="ctr"/>
          <a:lstStyle/>
          <a:p>
            <a:pPr indent="0" marL="0">
              <a:buNone/>
            </a:pPr>
            <a:r>
              <a:rPr lang="en-US" sz="750" spc="200" kern="0" dirty="0">
                <a:solidFill>
                  <a:srgbClr val="9FB0C8"/>
                </a:solidFill>
                <a:latin typeface="Courier New" pitchFamily="34" charset="0"/>
                <a:ea typeface="Courier New" pitchFamily="34" charset="-122"/>
                <a:cs typeface="Courier New" pitchFamily="34" charset="-120"/>
              </a:rPr>
              <a:t>PILOTS ALREADY TRAINING</a:t>
            </a:r>
            <a:endParaRPr lang="en-US" sz="750" dirty="0"/>
          </a:p>
        </p:txBody>
      </p:sp>
      <p:sp>
        <p:nvSpPr>
          <p:cNvPr id="19" name="Text 16"/>
          <p:cNvSpPr txBox="1"/>
          <p:nvPr/>
        </p:nvSpPr>
        <p:spPr>
          <a:xfrm>
            <a:off x="457200" y="4480560"/>
            <a:ext cx="4572000" cy="274320"/>
          </a:xfrm>
          <a:prstGeom prst="rect">
            <a:avLst/>
          </a:prstGeom>
          <a:noFill/>
          <a:ln/>
        </p:spPr>
        <p:txBody>
          <a:bodyPr wrap="square" lIns="0" tIns="0" rIns="0" bIns="0" rtlCol="0" anchor="ctr"/>
          <a:lstStyle/>
          <a:p>
            <a:pPr indent="0" marL="0">
              <a:buNone/>
            </a:pPr>
            <a:r>
              <a:rPr lang="en-US" sz="1000" spc="200" kern="0" dirty="0">
                <a:solidFill>
                  <a:srgbClr val="9FB0C8"/>
                </a:solidFill>
                <a:latin typeface="Courier New" pitchFamily="34" charset="0"/>
                <a:ea typeface="Courier New" pitchFamily="34" charset="-122"/>
                <a:cs typeface="Courier New" pitchFamily="34" charset="-120"/>
              </a:rPr>
              <a:t>Micah Tucker &amp; team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01 · WHERE WE ARE TODAY</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F3350"/>
                </a:solidFill>
              </a:rPr>
              <a:t>We didn’t wait for the money. Tier 0 is already running.</a:t>
            </a:r>
            <a:endParaRPr lang="en-US" sz="26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2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Five FPV simulators </a:t>
            </a:r>
            <a:pPr indent="0" marL="0">
              <a:spcAft>
                <a:spcPts val="700"/>
              </a:spcAft>
              <a:buNone/>
            </a:pPr>
            <a:r>
              <a:rPr lang="en-US" sz="1300" dirty="0">
                <a:solidFill>
                  <a:srgbClr val="1F3350"/>
                </a:solidFill>
              </a:rPr>
              <a:t>in the IC, open to anyone, 7:00–4:00 on school days.</a:t>
            </a:r>
            <a:endParaRPr lang="en-US" sz="1300" dirty="0"/>
          </a:p>
          <a:p>
            <a:pPr marL="342900" indent="-342900">
              <a:spcAft>
                <a:spcPts val="700"/>
              </a:spcAft>
              <a:buSzPct val="100000"/>
              <a:buChar char="○"/>
            </a:pPr>
            <a:r>
              <a:rPr lang="en-US" sz="1300" b="1" dirty="0">
                <a:solidFill>
                  <a:srgbClr val="1F3350"/>
                </a:solidFill>
              </a:rPr>
              <a:t>A kiosk students built: </a:t>
            </a:r>
            <a:pPr indent="0" marL="0">
              <a:spcAft>
                <a:spcPts val="700"/>
              </a:spcAft>
              <a:buNone/>
            </a:pPr>
            <a:r>
              <a:rPr lang="en-US" sz="1300" dirty="0">
                <a:solidFill>
                  <a:srgbClr val="1F3350"/>
                </a:solidFill>
              </a:rPr>
              <a:t>tap your name, pick a sim, fly. Hours log themselves.</a:t>
            </a:r>
            <a:endParaRPr lang="en-US" sz="1300" dirty="0"/>
          </a:p>
          <a:p>
            <a:pPr marL="342900" indent="-342900">
              <a:spcAft>
                <a:spcPts val="700"/>
              </a:spcAft>
              <a:buSzPct val="100000"/>
              <a:buChar char="○"/>
            </a:pPr>
            <a:r>
              <a:rPr lang="en-US" sz="1300" b="1" dirty="0">
                <a:solidFill>
                  <a:srgbClr val="1F3350"/>
                </a:solidFill>
              </a:rPr>
              <a:t>Ground School lessons and quizzes </a:t>
            </a:r>
            <a:pPr indent="0" marL="0">
              <a:spcAft>
                <a:spcPts val="700"/>
              </a:spcAft>
              <a:buNone/>
            </a:pPr>
            <a:r>
              <a:rPr lang="en-US" sz="1300" dirty="0">
                <a:solidFill>
                  <a:srgbClr val="1F3350"/>
                </a:solidFill>
              </a:rPr>
              <a:t>run on the same machine while someone else has the seat.</a:t>
            </a:r>
            <a:endParaRPr lang="en-US" sz="1300" dirty="0"/>
          </a:p>
          <a:p>
            <a:pPr marL="342900" indent="-342900">
              <a:spcAft>
                <a:spcPts val="700"/>
              </a:spcAft>
              <a:buSzPct val="100000"/>
              <a:buChar char="○"/>
            </a:pPr>
            <a:r>
              <a:rPr lang="en-US" sz="1300" b="1" dirty="0">
                <a:solidFill>
                  <a:srgbClr val="1F3350"/>
                </a:solidFill>
              </a:rPr>
              <a:t>A public website </a:t>
            </a:r>
            <a:pPr indent="0" marL="0">
              <a:spcAft>
                <a:spcPts val="700"/>
              </a:spcAft>
              <a:buNone/>
            </a:pPr>
            <a:r>
              <a:rPr lang="en-US" sz="1300" dirty="0">
                <a:solidFill>
                  <a:srgbClr val="1F3350"/>
                </a:solidFill>
              </a:rPr>
              <a:t>shows the lab’s hours, the leaderboard and the whole badge path.</a:t>
            </a:r>
            <a:endParaRPr lang="en-US" sz="1300" dirty="0"/>
          </a:p>
          <a:p>
            <a:pPr marL="342900" indent="-342900">
              <a:spcAft>
                <a:spcPts val="700"/>
              </a:spcAft>
              <a:buSzPct val="100000"/>
              <a:buChar char="○"/>
            </a:pPr>
            <a:r>
              <a:rPr lang="en-US" sz="1300" b="1" dirty="0">
                <a:solidFill>
                  <a:srgbClr val="1F3350"/>
                </a:solidFill>
              </a:rPr>
              <a:t>As of Oct 4: </a:t>
            </a:r>
            <a:pPr indent="0" marL="0">
              <a:spcAft>
                <a:spcPts val="700"/>
              </a:spcAft>
              <a:buNone/>
            </a:pPr>
            <a:r>
              <a:rPr lang="en-US" sz="1300" dirty="0">
                <a:solidFill>
                  <a:srgbClr val="1F3350"/>
                </a:solidFill>
              </a:rPr>
              <a:t>87 h 30 m flown · 35 pilots logged · 22 flying this week · 5 simulators. (Live numbers in the web deck.)</a:t>
            </a:r>
            <a:endParaRPr lang="en-US" sz="1300" dirty="0"/>
          </a:p>
        </p:txBody>
      </p:sp>
      <p:sp>
        <p:nvSpPr>
          <p:cNvPr id="8" name="Shape 5"/>
          <p:cNvSpPr/>
          <p:nvPr/>
        </p:nvSpPr>
        <p:spPr>
          <a:xfrm>
            <a:off x="4937760" y="1325880"/>
            <a:ext cx="3749040" cy="1975104"/>
          </a:xfrm>
          <a:prstGeom prst="roundRect">
            <a:avLst>
              <a:gd name="adj" fmla="val 2778"/>
            </a:avLst>
          </a:prstGeom>
          <a:solidFill>
            <a:srgbClr val="FFFFFF"/>
          </a:solidFill>
          <a:ln w="9525">
            <a:solidFill>
              <a:srgbClr val="8A94A3"/>
            </a:solidFill>
            <a:prstDash val="solid"/>
          </a:ln>
        </p:spPr>
      </p:sp>
      <p:sp>
        <p:nvSpPr>
          <p:cNvPr id="9" name="Shape 6"/>
          <p:cNvSpPr/>
          <p:nvPr/>
        </p:nvSpPr>
        <p:spPr>
          <a:xfrm>
            <a:off x="4946904" y="1335024"/>
            <a:ext cx="3730752" cy="219456"/>
          </a:xfrm>
          <a:prstGeom prst="rect">
            <a:avLst/>
          </a:prstGeom>
          <a:solidFill>
            <a:srgbClr val="E9E3D6"/>
          </a:solidFill>
          <a:ln w="12700">
            <a:solidFill>
              <a:srgbClr val="E9E3D6"/>
            </a:solidFill>
            <a:prstDash val="solid"/>
          </a:ln>
        </p:spPr>
      </p:sp>
      <p:sp>
        <p:nvSpPr>
          <p:cNvPr id="10" name="Text 7"/>
          <p:cNvSpPr txBox="1"/>
          <p:nvPr/>
        </p:nvSpPr>
        <p:spPr>
          <a:xfrm>
            <a:off x="5047488" y="133502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kiosk · home screen</a:t>
            </a:r>
            <a:endParaRPr lang="en-US" sz="750" dirty="0"/>
          </a:p>
        </p:txBody>
      </p:sp>
      <p:pic>
        <p:nvPicPr>
          <p:cNvPr id="11" name="Image 0" descr="/private/tmp/claude-503/-Users-user-Documents-Workspace/77a334b4-d7cc-49da-a5bd-6abd8d6b9366/scratchpad/slides/img/kiosk-home.jpg">    </p:cNvPr>
          <p:cNvPicPr>
            <a:picLocks noChangeAspect="1"/>
          </p:cNvPicPr>
          <p:nvPr/>
        </p:nvPicPr>
        <p:blipFill>
          <a:blip r:embed="rId1"/>
          <a:srcRect l="0" r="0" t="0" b="0"/>
          <a:stretch/>
        </p:blipFill>
        <p:spPr>
          <a:xfrm>
            <a:off x="4974336" y="1581912"/>
            <a:ext cx="3675888" cy="1682496"/>
          </a:xfrm>
          <a:prstGeom prst="rect">
            <a:avLst/>
          </a:prstGeom>
        </p:spPr>
      </p:pic>
      <p:sp>
        <p:nvSpPr>
          <p:cNvPr id="12" name="Shape 8"/>
          <p:cNvSpPr/>
          <p:nvPr/>
        </p:nvSpPr>
        <p:spPr>
          <a:xfrm>
            <a:off x="4937760" y="3429000"/>
            <a:ext cx="3749040" cy="1426464"/>
          </a:xfrm>
          <a:prstGeom prst="roundRect">
            <a:avLst>
              <a:gd name="adj" fmla="val 3846"/>
            </a:avLst>
          </a:prstGeom>
          <a:solidFill>
            <a:srgbClr val="FFFFFF"/>
          </a:solidFill>
          <a:ln w="9525">
            <a:solidFill>
              <a:srgbClr val="8A94A3"/>
            </a:solidFill>
            <a:prstDash val="solid"/>
          </a:ln>
        </p:spPr>
      </p:sp>
      <p:sp>
        <p:nvSpPr>
          <p:cNvPr id="13" name="Shape 9"/>
          <p:cNvSpPr/>
          <p:nvPr/>
        </p:nvSpPr>
        <p:spPr>
          <a:xfrm>
            <a:off x="4946904" y="3438144"/>
            <a:ext cx="3730752" cy="219456"/>
          </a:xfrm>
          <a:prstGeom prst="rect">
            <a:avLst/>
          </a:prstGeom>
          <a:solidFill>
            <a:srgbClr val="E9E3D6"/>
          </a:solidFill>
          <a:ln w="12700">
            <a:solidFill>
              <a:srgbClr val="E9E3D6"/>
            </a:solidFill>
            <a:prstDash val="solid"/>
          </a:ln>
        </p:spPr>
      </p:sp>
      <p:sp>
        <p:nvSpPr>
          <p:cNvPr id="14" name="Text 10"/>
          <p:cNvSpPr txBox="1"/>
          <p:nvPr/>
        </p:nvSpPr>
        <p:spPr>
          <a:xfrm>
            <a:off x="5047488" y="343814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elmagoct.github.io/brophy-uav-dashboard/</a:t>
            </a:r>
            <a:endParaRPr lang="en-US" sz="750" dirty="0"/>
          </a:p>
        </p:txBody>
      </p:sp>
      <p:pic>
        <p:nvPicPr>
          <p:cNvPr id="15" name="Image 1" descr="/private/tmp/claude-503/-Users-user-Documents-Workspace/77a334b4-d7cc-49da-a5bd-6abd8d6b9366/scratchpad/slides/img/web-home.jpg">    </p:cNvPr>
          <p:cNvPicPr>
            <a:picLocks noChangeAspect="1"/>
          </p:cNvPicPr>
          <p:nvPr/>
        </p:nvPicPr>
        <p:blipFill>
          <a:blip r:embed="rId2"/>
          <a:srcRect l="0" r="0" t="0" b="0"/>
          <a:stretch/>
        </p:blipFill>
        <p:spPr>
          <a:xfrm>
            <a:off x="4974336" y="3685032"/>
            <a:ext cx="3675888" cy="11338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02 · THE PROBLEM</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Every year a club like this restarts from zero.</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3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Skills leave with the seniors. </a:t>
            </a:r>
            <a:pPr indent="0" marL="0">
              <a:spcAft>
                <a:spcPts val="700"/>
              </a:spcAft>
              <a:buNone/>
            </a:pPr>
            <a:r>
              <a:rPr lang="en-US" sz="1300" dirty="0">
                <a:solidFill>
                  <a:srgbClr val="1F3350"/>
                </a:solidFill>
              </a:rPr>
              <a:t>Whoever knew how to build, tune and fly graduates, and nothing is written down.</a:t>
            </a:r>
            <a:endParaRPr lang="en-US" sz="1300" dirty="0"/>
          </a:p>
          <a:p>
            <a:pPr marL="342900" indent="-342900">
              <a:spcAft>
                <a:spcPts val="700"/>
              </a:spcAft>
              <a:buSzPct val="100000"/>
              <a:buChar char="○"/>
            </a:pPr>
            <a:r>
              <a:rPr lang="en-US" sz="1300" b="1" dirty="0">
                <a:solidFill>
                  <a:srgbClr val="1F3350"/>
                </a:solidFill>
              </a:rPr>
              <a:t>Nobody can say who may fly what. </a:t>
            </a:r>
            <a:pPr indent="0" marL="0">
              <a:spcAft>
                <a:spcPts val="700"/>
              </a:spcAft>
              <a:buNone/>
            </a:pPr>
            <a:r>
              <a:rPr lang="en-US" sz="1300" dirty="0">
                <a:solidFill>
                  <a:srgbClr val="1F3350"/>
                </a:solidFill>
              </a:rPr>
              <a:t>Expensive gear with no rule for who is trained to touch it.</a:t>
            </a:r>
            <a:endParaRPr lang="en-US" sz="1300" dirty="0"/>
          </a:p>
          <a:p>
            <a:pPr marL="342900" indent="-342900">
              <a:spcAft>
                <a:spcPts val="700"/>
              </a:spcAft>
              <a:buSzPct val="100000"/>
              <a:buChar char="○"/>
            </a:pPr>
            <a:r>
              <a:rPr lang="en-US" sz="1300" b="1" dirty="0">
                <a:solidFill>
                  <a:srgbClr val="1F3350"/>
                </a:solidFill>
              </a:rPr>
              <a:t>FPV looks like a toy until it isn’t. </a:t>
            </a:r>
            <a:pPr indent="0" marL="0">
              <a:spcAft>
                <a:spcPts val="700"/>
              </a:spcAft>
              <a:buNone/>
            </a:pPr>
            <a:r>
              <a:rPr lang="en-US" sz="1300" dirty="0">
                <a:solidFill>
                  <a:srgbClr val="1F3350"/>
                </a:solidFill>
              </a:rPr>
              <a:t>LiPo fires, flyaways and controlled airspace are real, and there is no safety standard on paper.</a:t>
            </a:r>
            <a:endParaRPr lang="en-US" sz="1300" dirty="0"/>
          </a:p>
          <a:p>
            <a:pPr marL="342900" indent="-342900">
              <a:spcAft>
                <a:spcPts val="700"/>
              </a:spcAft>
              <a:buSzPct val="100000"/>
              <a:buChar char="○"/>
            </a:pPr>
            <a:r>
              <a:rPr lang="en-US" sz="1300" b="1" dirty="0">
                <a:solidFill>
                  <a:srgbClr val="1F3350"/>
                </a:solidFill>
              </a:rPr>
              <a:t>Students who want to film for the school </a:t>
            </a:r>
            <a:pPr indent="0" marL="0">
              <a:spcAft>
                <a:spcPts val="700"/>
              </a:spcAft>
              <a:buNone/>
            </a:pPr>
            <a:r>
              <a:rPr lang="en-US" sz="1300" dirty="0">
                <a:solidFill>
                  <a:srgbClr val="1F3350"/>
                </a:solidFill>
              </a:rPr>
              <a:t>have no path to get there.</a:t>
            </a:r>
            <a:endParaRPr lang="en-US" sz="1300" dirty="0"/>
          </a:p>
        </p:txBody>
      </p:sp>
      <p:sp>
        <p:nvSpPr>
          <p:cNvPr id="8" name="Shape 5"/>
          <p:cNvSpPr/>
          <p:nvPr/>
        </p:nvSpPr>
        <p:spPr>
          <a:xfrm>
            <a:off x="4937760" y="1325880"/>
            <a:ext cx="3749040" cy="1554480"/>
          </a:xfrm>
          <a:prstGeom prst="roundRect">
            <a:avLst>
              <a:gd name="adj" fmla="val 4706"/>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9" name="Text 6"/>
          <p:cNvSpPr txBox="1"/>
          <p:nvPr/>
        </p:nvSpPr>
        <p:spPr>
          <a:xfrm>
            <a:off x="5102352" y="1435608"/>
            <a:ext cx="3419856"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WHAT A GRANT USUALLY BUYS</a:t>
            </a:r>
            <a:endParaRPr lang="en-US" sz="800" dirty="0"/>
          </a:p>
        </p:txBody>
      </p:sp>
      <p:sp>
        <p:nvSpPr>
          <p:cNvPr id="10" name="Text 7"/>
          <p:cNvSpPr txBox="1"/>
          <p:nvPr/>
        </p:nvSpPr>
        <p:spPr>
          <a:xfrm>
            <a:off x="5102352" y="1636776"/>
            <a:ext cx="3419856" cy="457200"/>
          </a:xfrm>
          <a:prstGeom prst="rect">
            <a:avLst/>
          </a:prstGeom>
          <a:noFill/>
          <a:ln/>
        </p:spPr>
        <p:txBody>
          <a:bodyPr wrap="square" lIns="0" tIns="0" rIns="0" bIns="0" rtlCol="0" anchor="t"/>
          <a:lstStyle/>
          <a:p>
            <a:pPr indent="0" marL="0">
              <a:buNone/>
            </a:pPr>
            <a:r>
              <a:rPr lang="en-US" sz="1400" b="1" dirty="0">
                <a:solidFill>
                  <a:srgbClr val="1F3350"/>
                </a:solidFill>
              </a:rPr>
              <a:t>Drones.</a:t>
            </a:r>
            <a:endParaRPr lang="en-US" sz="1400" dirty="0"/>
          </a:p>
        </p:txBody>
      </p:sp>
      <p:sp>
        <p:nvSpPr>
          <p:cNvPr id="11" name="Text 8"/>
          <p:cNvSpPr txBox="1"/>
          <p:nvPr/>
        </p:nvSpPr>
        <p:spPr>
          <a:xfrm>
            <a:off x="5102352" y="2112264"/>
            <a:ext cx="3419856" cy="658368"/>
          </a:xfrm>
          <a:prstGeom prst="rect">
            <a:avLst/>
          </a:prstGeom>
          <a:noFill/>
          <a:ln/>
        </p:spPr>
        <p:txBody>
          <a:bodyPr wrap="square" lIns="0" tIns="0" rIns="0" bIns="0" rtlCol="0" anchor="t"/>
          <a:lstStyle/>
          <a:p>
            <a:pPr indent="0" marL="0">
              <a:buNone/>
            </a:pPr>
            <a:r>
              <a:rPr lang="en-US" sz="1100" dirty="0">
                <a:solidFill>
                  <a:srgbClr val="1F3350"/>
                </a:solidFill>
              </a:rPr>
              <a:t>They get flown by the two people who already knew how, and when those two graduate the drones sit in a drawer.</a:t>
            </a:r>
            <a:endParaRPr lang="en-US" sz="1100" dirty="0"/>
          </a:p>
        </p:txBody>
      </p:sp>
      <p:sp>
        <p:nvSpPr>
          <p:cNvPr id="12" name="Shape 9"/>
          <p:cNvSpPr/>
          <p:nvPr/>
        </p:nvSpPr>
        <p:spPr>
          <a:xfrm>
            <a:off x="4937760" y="3017520"/>
            <a:ext cx="3749040" cy="1600200"/>
          </a:xfrm>
          <a:prstGeom prst="roundRect">
            <a:avLst>
              <a:gd name="adj" fmla="val 4571"/>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13" name="Text 10"/>
          <p:cNvSpPr txBox="1"/>
          <p:nvPr/>
        </p:nvSpPr>
        <p:spPr>
          <a:xfrm>
            <a:off x="5102352" y="3127248"/>
            <a:ext cx="3419856" cy="201168"/>
          </a:xfrm>
          <a:prstGeom prst="rect">
            <a:avLst/>
          </a:prstGeom>
          <a:noFill/>
          <a:ln/>
        </p:spPr>
        <p:txBody>
          <a:bodyPr wrap="square" lIns="0" tIns="0" rIns="0" bIns="0" rtlCol="0" anchor="ctr"/>
          <a:lstStyle/>
          <a:p>
            <a:pPr indent="0" marL="0">
              <a:buNone/>
            </a:pPr>
            <a:r>
              <a:rPr lang="en-US" sz="800" spc="200" kern="0" dirty="0">
                <a:solidFill>
                  <a:srgbClr val="1F5230"/>
                </a:solidFill>
                <a:latin typeface="Courier New" pitchFamily="34" charset="0"/>
                <a:ea typeface="Courier New" pitchFamily="34" charset="-122"/>
                <a:cs typeface="Courier New" pitchFamily="34" charset="-120"/>
              </a:rPr>
              <a:t>WHAT WE ARE ASKING FOR INSTEAD</a:t>
            </a:r>
            <a:endParaRPr lang="en-US" sz="800" dirty="0"/>
          </a:p>
        </p:txBody>
      </p:sp>
      <p:sp>
        <p:nvSpPr>
          <p:cNvPr id="14" name="Text 11"/>
          <p:cNvSpPr txBox="1"/>
          <p:nvPr/>
        </p:nvSpPr>
        <p:spPr>
          <a:xfrm>
            <a:off x="5102352" y="3328416"/>
            <a:ext cx="3419856" cy="457200"/>
          </a:xfrm>
          <a:prstGeom prst="rect">
            <a:avLst/>
          </a:prstGeom>
          <a:noFill/>
          <a:ln/>
        </p:spPr>
        <p:txBody>
          <a:bodyPr wrap="square" lIns="0" tIns="0" rIns="0" bIns="0" rtlCol="0" anchor="t"/>
          <a:lstStyle/>
          <a:p>
            <a:pPr indent="0" marL="0">
              <a:buNone/>
            </a:pPr>
            <a:r>
              <a:rPr lang="en-US" sz="1400" b="1" dirty="0">
                <a:solidFill>
                  <a:srgbClr val="1F3350"/>
                </a:solidFill>
              </a:rPr>
              <a:t>A training fleet for a certification system.</a:t>
            </a:r>
            <a:endParaRPr lang="en-US" sz="1400" dirty="0"/>
          </a:p>
        </p:txBody>
      </p:sp>
      <p:sp>
        <p:nvSpPr>
          <p:cNvPr id="15" name="Text 12"/>
          <p:cNvSpPr txBox="1"/>
          <p:nvPr/>
        </p:nvSpPr>
        <p:spPr>
          <a:xfrm>
            <a:off x="5102352" y="3803904"/>
            <a:ext cx="3419856" cy="704088"/>
          </a:xfrm>
          <a:prstGeom prst="rect">
            <a:avLst/>
          </a:prstGeom>
          <a:noFill/>
          <a:ln/>
        </p:spPr>
        <p:txBody>
          <a:bodyPr wrap="square" lIns="0" tIns="0" rIns="0" bIns="0" rtlCol="0" anchor="t"/>
          <a:lstStyle/>
          <a:p>
            <a:pPr indent="0" marL="0">
              <a:buNone/>
            </a:pPr>
            <a:r>
              <a:rPr lang="en-US" sz="1100" dirty="0">
                <a:solidFill>
                  <a:srgbClr val="1F3350"/>
                </a:solidFill>
              </a:rPr>
              <a:t>The drones in the budget are the hardware the badge program runs on, and the program is what the school keeps.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03 · THE IDEA</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Badges unlock gear.</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4 / 14  ·  Brophy FPV Club  ·  grant 2026–27</a:t>
            </a:r>
            <a:endParaRPr lang="en-US" sz="800" dirty="0"/>
          </a:p>
        </p:txBody>
      </p:sp>
      <p:sp>
        <p:nvSpPr>
          <p:cNvPr id="7" name="Text 4"/>
          <p:cNvSpPr txBox="1"/>
          <p:nvPr/>
        </p:nvSpPr>
        <p:spPr>
          <a:xfrm>
            <a:off x="457200" y="1325880"/>
            <a:ext cx="393192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A badge is one specific, testable skill, </a:t>
            </a:r>
            <a:pPr indent="0" marL="0">
              <a:spcAft>
                <a:spcPts val="700"/>
              </a:spcAft>
              <a:buNone/>
            </a:pPr>
            <a:r>
              <a:rPr lang="en-US" sz="1300" dirty="0">
                <a:solidFill>
                  <a:srgbClr val="1F3350"/>
                </a:solidFill>
              </a:rPr>
              <a:t>signed off by a certified member.</a:t>
            </a:r>
            <a:endParaRPr lang="en-US" sz="1300" dirty="0"/>
          </a:p>
          <a:p>
            <a:pPr marL="342900" indent="-342900">
              <a:spcAft>
                <a:spcPts val="700"/>
              </a:spcAft>
              <a:buSzPct val="100000"/>
              <a:buChar char="○"/>
            </a:pPr>
            <a:r>
              <a:rPr lang="en-US" sz="1300" b="1" dirty="0">
                <a:solidFill>
                  <a:srgbClr val="1F3350"/>
                </a:solidFill>
              </a:rPr>
              <a:t>Earn every badge in a tier and the gate opens: </a:t>
            </a:r>
            <a:pPr indent="0" marL="0">
              <a:spcAft>
                <a:spcPts val="700"/>
              </a:spcAft>
              <a:buNone/>
            </a:pPr>
            <a:r>
              <a:rPr lang="en-US" sz="1300" dirty="0">
                <a:solidFill>
                  <a:srgbClr val="1F3350"/>
                </a:solidFill>
              </a:rPr>
              <a:t>the next drone is yours to fly.</a:t>
            </a:r>
            <a:endParaRPr lang="en-US" sz="1300" dirty="0"/>
          </a:p>
          <a:p>
            <a:pPr marL="342900" indent="-342900">
              <a:spcAft>
                <a:spcPts val="700"/>
              </a:spcAft>
              <a:buSzPct val="100000"/>
              <a:buChar char="○"/>
            </a:pPr>
            <a:r>
              <a:rPr lang="en-US" sz="1300" b="1" dirty="0">
                <a:solidFill>
                  <a:srgbClr val="1F3350"/>
                </a:solidFill>
              </a:rPr>
              <a:t>Four tiers: </a:t>
            </a:r>
            <a:pPr indent="0" marL="0">
              <a:spcAft>
                <a:spcPts val="700"/>
              </a:spcAft>
              <a:buNone/>
            </a:pPr>
            <a:r>
              <a:rPr lang="en-US" sz="1300" dirty="0">
                <a:solidFill>
                  <a:srgbClr val="1F3350"/>
                </a:solidFill>
              </a:rPr>
              <a:t>Simulator → Tiny Whoop → Full-size → Event Pilot.</a:t>
            </a:r>
            <a:endParaRPr lang="en-US" sz="1300" dirty="0"/>
          </a:p>
          <a:p>
            <a:pPr marL="342900" indent="-342900">
              <a:spcAft>
                <a:spcPts val="700"/>
              </a:spcAft>
              <a:buSzPct val="100000"/>
              <a:buChar char="○"/>
            </a:pPr>
            <a:r>
              <a:rPr lang="en-US" sz="1300" b="1" dirty="0">
                <a:solidFill>
                  <a:srgbClr val="1F3350"/>
                </a:solidFill>
              </a:rPr>
              <a:t>The expensive gear is never in untrained hands, </a:t>
            </a:r>
            <a:pPr indent="0" marL="0">
              <a:spcAft>
                <a:spcPts val="700"/>
              </a:spcAft>
              <a:buNone/>
            </a:pPr>
            <a:r>
              <a:rPr lang="en-US" sz="1300" dirty="0">
                <a:solidFill>
                  <a:srgbClr val="1F3350"/>
                </a:solidFill>
              </a:rPr>
              <a:t>and “who may fly what” is written down, not remembered.</a:t>
            </a:r>
            <a:endParaRPr lang="en-US" sz="1300" dirty="0"/>
          </a:p>
        </p:txBody>
      </p:sp>
      <p:sp>
        <p:nvSpPr>
          <p:cNvPr id="8" name="Shape 5"/>
          <p:cNvSpPr/>
          <p:nvPr/>
        </p:nvSpPr>
        <p:spPr>
          <a:xfrm>
            <a:off x="4663440" y="1325880"/>
            <a:ext cx="1920240" cy="1554480"/>
          </a:xfrm>
          <a:prstGeom prst="roundRect">
            <a:avLst>
              <a:gd name="adj" fmla="val 3529"/>
            </a:avLst>
          </a:prstGeom>
          <a:solidFill>
            <a:srgbClr val="FFFFFF"/>
          </a:solidFill>
          <a:ln w="9525">
            <a:solidFill>
              <a:srgbClr val="B9B1A2"/>
            </a:solidFill>
            <a:prstDash val="solid"/>
          </a:ln>
        </p:spPr>
      </p:sp>
      <p:sp>
        <p:nvSpPr>
          <p:cNvPr id="9" name="Shape 6"/>
          <p:cNvSpPr/>
          <p:nvPr/>
        </p:nvSpPr>
        <p:spPr>
          <a:xfrm>
            <a:off x="4681728" y="1344168"/>
            <a:ext cx="1883664" cy="64008"/>
          </a:xfrm>
          <a:prstGeom prst="rect">
            <a:avLst/>
          </a:prstGeom>
          <a:solidFill>
            <a:srgbClr val="1C5578"/>
          </a:solidFill>
          <a:ln w="12700">
            <a:solidFill>
              <a:srgbClr val="1C5578"/>
            </a:solidFill>
            <a:prstDash val="solid"/>
          </a:ln>
        </p:spPr>
      </p:sp>
      <p:sp>
        <p:nvSpPr>
          <p:cNvPr id="10" name="Text 7"/>
          <p:cNvSpPr txBox="1"/>
          <p:nvPr/>
        </p:nvSpPr>
        <p:spPr>
          <a:xfrm>
            <a:off x="4800600" y="1481328"/>
            <a:ext cx="1645920" cy="201168"/>
          </a:xfrm>
          <a:prstGeom prst="rect">
            <a:avLst/>
          </a:prstGeom>
          <a:noFill/>
          <a:ln/>
        </p:spPr>
        <p:txBody>
          <a:bodyPr wrap="square" lIns="0" tIns="0" rIns="0" bIns="0" rtlCol="0" anchor="ctr"/>
          <a:lstStyle/>
          <a:p>
            <a:pPr indent="0" marL="0">
              <a:buNone/>
            </a:pPr>
            <a:r>
              <a:rPr lang="en-US" sz="800" spc="200" kern="0" dirty="0">
                <a:solidFill>
                  <a:srgbClr val="1C5578"/>
                </a:solidFill>
                <a:latin typeface="Courier New" pitchFamily="34" charset="0"/>
                <a:ea typeface="Courier New" pitchFamily="34" charset="-122"/>
                <a:cs typeface="Courier New" pitchFamily="34" charset="-120"/>
              </a:rPr>
              <a:t>TIER 0</a:t>
            </a:r>
            <a:endParaRPr lang="en-US" sz="800" dirty="0"/>
          </a:p>
        </p:txBody>
      </p:sp>
      <p:sp>
        <p:nvSpPr>
          <p:cNvPr id="11" name="Text 8"/>
          <p:cNvSpPr txBox="1"/>
          <p:nvPr/>
        </p:nvSpPr>
        <p:spPr>
          <a:xfrm>
            <a:off x="4800600" y="1691640"/>
            <a:ext cx="1645920" cy="365760"/>
          </a:xfrm>
          <a:prstGeom prst="rect">
            <a:avLst/>
          </a:prstGeom>
          <a:noFill/>
          <a:ln/>
        </p:spPr>
        <p:txBody>
          <a:bodyPr wrap="square" lIns="0" tIns="0" rIns="0" bIns="0" rtlCol="0" anchor="ctr"/>
          <a:lstStyle/>
          <a:p>
            <a:pPr indent="0" marL="0">
              <a:buNone/>
            </a:pPr>
            <a:r>
              <a:rPr lang="en-US" sz="1800" b="1" dirty="0">
                <a:solidFill>
                  <a:srgbClr val="1F3350"/>
                </a:solidFill>
              </a:rPr>
              <a:t>Simulator</a:t>
            </a:r>
            <a:endParaRPr lang="en-US" sz="1800" dirty="0"/>
          </a:p>
        </p:txBody>
      </p:sp>
      <p:sp>
        <p:nvSpPr>
          <p:cNvPr id="12" name="Text 9"/>
          <p:cNvSpPr txBox="1"/>
          <p:nvPr/>
        </p:nvSpPr>
        <p:spPr>
          <a:xfrm>
            <a:off x="4800600" y="2075688"/>
            <a:ext cx="1645920" cy="457200"/>
          </a:xfrm>
          <a:prstGeom prst="rect">
            <a:avLst/>
          </a:prstGeom>
          <a:noFill/>
          <a:ln/>
        </p:spPr>
        <p:txBody>
          <a:bodyPr wrap="square" lIns="0" tIns="0" rIns="0" bIns="0" rtlCol="0" anchor="t"/>
          <a:lstStyle/>
          <a:p>
            <a:pPr indent="0" marL="0">
              <a:buNone/>
            </a:pPr>
            <a:r>
              <a:rPr lang="en-US" sz="950" dirty="0">
                <a:solidFill>
                  <a:srgbClr val="546881"/>
                </a:solidFill>
              </a:rPr>
              <a:t>The five FPV sims in the IC</a:t>
            </a:r>
            <a:endParaRPr lang="en-US" sz="950" dirty="0"/>
          </a:p>
        </p:txBody>
      </p:sp>
      <p:sp>
        <p:nvSpPr>
          <p:cNvPr id="13" name="Text 10"/>
          <p:cNvSpPr txBox="1"/>
          <p:nvPr/>
        </p:nvSpPr>
        <p:spPr>
          <a:xfrm>
            <a:off x="4800600" y="2587752"/>
            <a:ext cx="1645920" cy="201168"/>
          </a:xfrm>
          <a:prstGeom prst="rect">
            <a:avLst/>
          </a:prstGeom>
          <a:noFill/>
          <a:ln/>
        </p:spPr>
        <p:txBody>
          <a:bodyPr wrap="square" lIns="0" tIns="0" rIns="0" bIns="0" rtlCol="0" anchor="ctr"/>
          <a:lstStyle/>
          <a:p>
            <a:pPr indent="0" marL="0">
              <a:buNone/>
            </a:pPr>
            <a:r>
              <a:rPr lang="en-US" sz="750" spc="150" kern="0" dirty="0">
                <a:solidFill>
                  <a:srgbClr val="1F3350"/>
                </a:solidFill>
                <a:latin typeface="Courier New" pitchFamily="34" charset="0"/>
                <a:ea typeface="Courier New" pitchFamily="34" charset="-122"/>
                <a:cs typeface="Courier New" pitchFamily="34" charset="-120"/>
              </a:rPr>
              <a:t>7 BADGES → GATE 1</a:t>
            </a:r>
            <a:endParaRPr lang="en-US" sz="750" dirty="0"/>
          </a:p>
        </p:txBody>
      </p:sp>
      <p:sp>
        <p:nvSpPr>
          <p:cNvPr id="14" name="Shape 11"/>
          <p:cNvSpPr/>
          <p:nvPr/>
        </p:nvSpPr>
        <p:spPr>
          <a:xfrm>
            <a:off x="6720840" y="1325880"/>
            <a:ext cx="1920240" cy="1554480"/>
          </a:xfrm>
          <a:prstGeom prst="roundRect">
            <a:avLst>
              <a:gd name="adj" fmla="val 3529"/>
            </a:avLst>
          </a:prstGeom>
          <a:solidFill>
            <a:srgbClr val="FFFFFF"/>
          </a:solidFill>
          <a:ln w="9525">
            <a:solidFill>
              <a:srgbClr val="B9B1A2"/>
            </a:solidFill>
            <a:prstDash val="solid"/>
          </a:ln>
        </p:spPr>
      </p:sp>
      <p:sp>
        <p:nvSpPr>
          <p:cNvPr id="15" name="Shape 12"/>
          <p:cNvSpPr/>
          <p:nvPr/>
        </p:nvSpPr>
        <p:spPr>
          <a:xfrm>
            <a:off x="6739128" y="1344168"/>
            <a:ext cx="1883664" cy="64008"/>
          </a:xfrm>
          <a:prstGeom prst="rect">
            <a:avLst/>
          </a:prstGeom>
          <a:solidFill>
            <a:srgbClr val="4B3287"/>
          </a:solidFill>
          <a:ln w="12700">
            <a:solidFill>
              <a:srgbClr val="4B3287"/>
            </a:solidFill>
            <a:prstDash val="solid"/>
          </a:ln>
        </p:spPr>
      </p:sp>
      <p:sp>
        <p:nvSpPr>
          <p:cNvPr id="16" name="Text 13"/>
          <p:cNvSpPr txBox="1"/>
          <p:nvPr/>
        </p:nvSpPr>
        <p:spPr>
          <a:xfrm>
            <a:off x="6858000" y="1481328"/>
            <a:ext cx="1645920" cy="201168"/>
          </a:xfrm>
          <a:prstGeom prst="rect">
            <a:avLst/>
          </a:prstGeom>
          <a:noFill/>
          <a:ln/>
        </p:spPr>
        <p:txBody>
          <a:bodyPr wrap="square" lIns="0" tIns="0" rIns="0" bIns="0" rtlCol="0" anchor="ctr"/>
          <a:lstStyle/>
          <a:p>
            <a:pPr indent="0" marL="0">
              <a:buNone/>
            </a:pPr>
            <a:r>
              <a:rPr lang="en-US" sz="800" spc="200" kern="0" dirty="0">
                <a:solidFill>
                  <a:srgbClr val="4B3287"/>
                </a:solidFill>
                <a:latin typeface="Courier New" pitchFamily="34" charset="0"/>
                <a:ea typeface="Courier New" pitchFamily="34" charset="-122"/>
                <a:cs typeface="Courier New" pitchFamily="34" charset="-120"/>
              </a:rPr>
              <a:t>TIER 1</a:t>
            </a:r>
            <a:endParaRPr lang="en-US" sz="800" dirty="0"/>
          </a:p>
        </p:txBody>
      </p:sp>
      <p:sp>
        <p:nvSpPr>
          <p:cNvPr id="17" name="Text 14"/>
          <p:cNvSpPr txBox="1"/>
          <p:nvPr/>
        </p:nvSpPr>
        <p:spPr>
          <a:xfrm>
            <a:off x="6858000" y="1691640"/>
            <a:ext cx="1645920" cy="365760"/>
          </a:xfrm>
          <a:prstGeom prst="rect">
            <a:avLst/>
          </a:prstGeom>
          <a:noFill/>
          <a:ln/>
        </p:spPr>
        <p:txBody>
          <a:bodyPr wrap="square" lIns="0" tIns="0" rIns="0" bIns="0" rtlCol="0" anchor="ctr"/>
          <a:lstStyle/>
          <a:p>
            <a:pPr indent="0" marL="0">
              <a:buNone/>
            </a:pPr>
            <a:r>
              <a:rPr lang="en-US" sz="1800" b="1" dirty="0">
                <a:solidFill>
                  <a:srgbClr val="1F3350"/>
                </a:solidFill>
              </a:rPr>
              <a:t>Tiny Whoop</a:t>
            </a:r>
            <a:endParaRPr lang="en-US" sz="1800" dirty="0"/>
          </a:p>
        </p:txBody>
      </p:sp>
      <p:sp>
        <p:nvSpPr>
          <p:cNvPr id="18" name="Text 15"/>
          <p:cNvSpPr txBox="1"/>
          <p:nvPr/>
        </p:nvSpPr>
        <p:spPr>
          <a:xfrm>
            <a:off x="6858000" y="2075688"/>
            <a:ext cx="1645920" cy="457200"/>
          </a:xfrm>
          <a:prstGeom prst="rect">
            <a:avLst/>
          </a:prstGeom>
          <a:noFill/>
          <a:ln/>
        </p:spPr>
        <p:txBody>
          <a:bodyPr wrap="square" lIns="0" tIns="0" rIns="0" bIns="0" rtlCol="0" anchor="t"/>
          <a:lstStyle/>
          <a:p>
            <a:pPr indent="0" marL="0">
              <a:buNone/>
            </a:pPr>
            <a:r>
              <a:rPr lang="en-US" sz="950" dirty="0">
                <a:solidFill>
                  <a:srgbClr val="546881"/>
                </a:solidFill>
              </a:rPr>
              <a:t>Meteor 75 Pro · sub-250 g</a:t>
            </a:r>
            <a:endParaRPr lang="en-US" sz="950" dirty="0"/>
          </a:p>
        </p:txBody>
      </p:sp>
      <p:sp>
        <p:nvSpPr>
          <p:cNvPr id="19" name="Text 16"/>
          <p:cNvSpPr txBox="1"/>
          <p:nvPr/>
        </p:nvSpPr>
        <p:spPr>
          <a:xfrm>
            <a:off x="6858000" y="2587752"/>
            <a:ext cx="1645920" cy="201168"/>
          </a:xfrm>
          <a:prstGeom prst="rect">
            <a:avLst/>
          </a:prstGeom>
          <a:noFill/>
          <a:ln/>
        </p:spPr>
        <p:txBody>
          <a:bodyPr wrap="square" lIns="0" tIns="0" rIns="0" bIns="0" rtlCol="0" anchor="ctr"/>
          <a:lstStyle/>
          <a:p>
            <a:pPr indent="0" marL="0">
              <a:buNone/>
            </a:pPr>
            <a:r>
              <a:rPr lang="en-US" sz="750" spc="150" kern="0" dirty="0">
                <a:solidFill>
                  <a:srgbClr val="1F3350"/>
                </a:solidFill>
                <a:latin typeface="Courier New" pitchFamily="34" charset="0"/>
                <a:ea typeface="Courier New" pitchFamily="34" charset="-122"/>
                <a:cs typeface="Courier New" pitchFamily="34" charset="-120"/>
              </a:rPr>
              <a:t>6 BADGES → GATE 2</a:t>
            </a:r>
            <a:endParaRPr lang="en-US" sz="750" dirty="0"/>
          </a:p>
        </p:txBody>
      </p:sp>
      <p:sp>
        <p:nvSpPr>
          <p:cNvPr id="20" name="Shape 17"/>
          <p:cNvSpPr/>
          <p:nvPr/>
        </p:nvSpPr>
        <p:spPr>
          <a:xfrm>
            <a:off x="4663440" y="3017520"/>
            <a:ext cx="1920240" cy="1554480"/>
          </a:xfrm>
          <a:prstGeom prst="roundRect">
            <a:avLst>
              <a:gd name="adj" fmla="val 3529"/>
            </a:avLst>
          </a:prstGeom>
          <a:solidFill>
            <a:srgbClr val="FFFFFF"/>
          </a:solidFill>
          <a:ln w="9525">
            <a:solidFill>
              <a:srgbClr val="B9B1A2"/>
            </a:solidFill>
            <a:prstDash val="solid"/>
          </a:ln>
        </p:spPr>
      </p:sp>
      <p:sp>
        <p:nvSpPr>
          <p:cNvPr id="21" name="Shape 18"/>
          <p:cNvSpPr/>
          <p:nvPr/>
        </p:nvSpPr>
        <p:spPr>
          <a:xfrm>
            <a:off x="4681728" y="3035808"/>
            <a:ext cx="1883664" cy="64008"/>
          </a:xfrm>
          <a:prstGeom prst="rect">
            <a:avLst/>
          </a:prstGeom>
          <a:solidFill>
            <a:srgbClr val="8F3D12"/>
          </a:solidFill>
          <a:ln w="12700">
            <a:solidFill>
              <a:srgbClr val="8F3D12"/>
            </a:solidFill>
            <a:prstDash val="solid"/>
          </a:ln>
        </p:spPr>
      </p:sp>
      <p:sp>
        <p:nvSpPr>
          <p:cNvPr id="22" name="Text 19"/>
          <p:cNvSpPr txBox="1"/>
          <p:nvPr/>
        </p:nvSpPr>
        <p:spPr>
          <a:xfrm>
            <a:off x="4800600" y="3172968"/>
            <a:ext cx="1645920"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TIER 2</a:t>
            </a:r>
            <a:endParaRPr lang="en-US" sz="800" dirty="0"/>
          </a:p>
        </p:txBody>
      </p:sp>
      <p:sp>
        <p:nvSpPr>
          <p:cNvPr id="23" name="Text 20"/>
          <p:cNvSpPr txBox="1"/>
          <p:nvPr/>
        </p:nvSpPr>
        <p:spPr>
          <a:xfrm>
            <a:off x="4800600" y="3383280"/>
            <a:ext cx="1645920" cy="365760"/>
          </a:xfrm>
          <a:prstGeom prst="rect">
            <a:avLst/>
          </a:prstGeom>
          <a:noFill/>
          <a:ln/>
        </p:spPr>
        <p:txBody>
          <a:bodyPr wrap="square" lIns="0" tIns="0" rIns="0" bIns="0" rtlCol="0" anchor="ctr"/>
          <a:lstStyle/>
          <a:p>
            <a:pPr indent="0" marL="0">
              <a:buNone/>
            </a:pPr>
            <a:r>
              <a:rPr lang="en-US" sz="1800" b="1" dirty="0">
                <a:solidFill>
                  <a:srgbClr val="1F3350"/>
                </a:solidFill>
              </a:rPr>
              <a:t>Full-size</a:t>
            </a:r>
            <a:endParaRPr lang="en-US" sz="1800" dirty="0"/>
          </a:p>
        </p:txBody>
      </p:sp>
      <p:sp>
        <p:nvSpPr>
          <p:cNvPr id="24" name="Text 21"/>
          <p:cNvSpPr txBox="1"/>
          <p:nvPr/>
        </p:nvSpPr>
        <p:spPr>
          <a:xfrm>
            <a:off x="4800600" y="3767328"/>
            <a:ext cx="1645920" cy="457200"/>
          </a:xfrm>
          <a:prstGeom prst="rect">
            <a:avLst/>
          </a:prstGeom>
          <a:noFill/>
          <a:ln/>
        </p:spPr>
        <p:txBody>
          <a:bodyPr wrap="square" lIns="0" tIns="0" rIns="0" bIns="0" rtlCol="0" anchor="t"/>
          <a:lstStyle/>
          <a:p>
            <a:pPr indent="0" marL="0">
              <a:buNone/>
            </a:pPr>
            <a:r>
              <a:rPr lang="en-US" sz="950" dirty="0">
                <a:solidFill>
                  <a:srgbClr val="546881"/>
                </a:solidFill>
              </a:rPr>
              <a:t>Pavo 20 Pro · Cinebot 35 · 5-inch</a:t>
            </a:r>
            <a:endParaRPr lang="en-US" sz="950" dirty="0"/>
          </a:p>
        </p:txBody>
      </p:sp>
      <p:sp>
        <p:nvSpPr>
          <p:cNvPr id="25" name="Text 22"/>
          <p:cNvSpPr txBox="1"/>
          <p:nvPr/>
        </p:nvSpPr>
        <p:spPr>
          <a:xfrm>
            <a:off x="4800600" y="4279392"/>
            <a:ext cx="1645920" cy="201168"/>
          </a:xfrm>
          <a:prstGeom prst="rect">
            <a:avLst/>
          </a:prstGeom>
          <a:noFill/>
          <a:ln/>
        </p:spPr>
        <p:txBody>
          <a:bodyPr wrap="square" lIns="0" tIns="0" rIns="0" bIns="0" rtlCol="0" anchor="ctr"/>
          <a:lstStyle/>
          <a:p>
            <a:pPr indent="0" marL="0">
              <a:buNone/>
            </a:pPr>
            <a:r>
              <a:rPr lang="en-US" sz="750" spc="150" kern="0" dirty="0">
                <a:solidFill>
                  <a:srgbClr val="1F3350"/>
                </a:solidFill>
                <a:latin typeface="Courier New" pitchFamily="34" charset="0"/>
                <a:ea typeface="Courier New" pitchFamily="34" charset="-122"/>
                <a:cs typeface="Courier New" pitchFamily="34" charset="-120"/>
              </a:rPr>
              <a:t>8 BADGES → GATE 3</a:t>
            </a:r>
            <a:endParaRPr lang="en-US" sz="750" dirty="0"/>
          </a:p>
        </p:txBody>
      </p:sp>
      <p:sp>
        <p:nvSpPr>
          <p:cNvPr id="26" name="Shape 23"/>
          <p:cNvSpPr/>
          <p:nvPr/>
        </p:nvSpPr>
        <p:spPr>
          <a:xfrm>
            <a:off x="6720840" y="3017520"/>
            <a:ext cx="1920240" cy="1554480"/>
          </a:xfrm>
          <a:prstGeom prst="roundRect">
            <a:avLst>
              <a:gd name="adj" fmla="val 3529"/>
            </a:avLst>
          </a:prstGeom>
          <a:solidFill>
            <a:srgbClr val="FFFFFF"/>
          </a:solidFill>
          <a:ln w="9525">
            <a:solidFill>
              <a:srgbClr val="B9B1A2"/>
            </a:solidFill>
            <a:prstDash val="solid"/>
          </a:ln>
        </p:spPr>
      </p:sp>
      <p:sp>
        <p:nvSpPr>
          <p:cNvPr id="27" name="Shape 24"/>
          <p:cNvSpPr/>
          <p:nvPr/>
        </p:nvSpPr>
        <p:spPr>
          <a:xfrm>
            <a:off x="6739128" y="3035808"/>
            <a:ext cx="1883664" cy="64008"/>
          </a:xfrm>
          <a:prstGeom prst="rect">
            <a:avLst/>
          </a:prstGeom>
          <a:solidFill>
            <a:srgbClr val="1F5230"/>
          </a:solidFill>
          <a:ln w="12700">
            <a:solidFill>
              <a:srgbClr val="1F5230"/>
            </a:solidFill>
            <a:prstDash val="solid"/>
          </a:ln>
        </p:spPr>
      </p:sp>
      <p:sp>
        <p:nvSpPr>
          <p:cNvPr id="28" name="Text 25"/>
          <p:cNvSpPr txBox="1"/>
          <p:nvPr/>
        </p:nvSpPr>
        <p:spPr>
          <a:xfrm>
            <a:off x="6858000" y="3172968"/>
            <a:ext cx="1645920" cy="201168"/>
          </a:xfrm>
          <a:prstGeom prst="rect">
            <a:avLst/>
          </a:prstGeom>
          <a:noFill/>
          <a:ln/>
        </p:spPr>
        <p:txBody>
          <a:bodyPr wrap="square" lIns="0" tIns="0" rIns="0" bIns="0" rtlCol="0" anchor="ctr"/>
          <a:lstStyle/>
          <a:p>
            <a:pPr indent="0" marL="0">
              <a:buNone/>
            </a:pPr>
            <a:r>
              <a:rPr lang="en-US" sz="800" spc="200" kern="0" dirty="0">
                <a:solidFill>
                  <a:srgbClr val="1F5230"/>
                </a:solidFill>
                <a:latin typeface="Courier New" pitchFamily="34" charset="0"/>
                <a:ea typeface="Courier New" pitchFamily="34" charset="-122"/>
                <a:cs typeface="Courier New" pitchFamily="34" charset="-120"/>
              </a:rPr>
              <a:t>TIER 3</a:t>
            </a:r>
            <a:endParaRPr lang="en-US" sz="800" dirty="0"/>
          </a:p>
        </p:txBody>
      </p:sp>
      <p:sp>
        <p:nvSpPr>
          <p:cNvPr id="29" name="Text 26"/>
          <p:cNvSpPr txBox="1"/>
          <p:nvPr/>
        </p:nvSpPr>
        <p:spPr>
          <a:xfrm>
            <a:off x="6858000" y="3383280"/>
            <a:ext cx="1645920" cy="365760"/>
          </a:xfrm>
          <a:prstGeom prst="rect">
            <a:avLst/>
          </a:prstGeom>
          <a:noFill/>
          <a:ln/>
        </p:spPr>
        <p:txBody>
          <a:bodyPr wrap="square" lIns="0" tIns="0" rIns="0" bIns="0" rtlCol="0" anchor="ctr"/>
          <a:lstStyle/>
          <a:p>
            <a:pPr indent="0" marL="0">
              <a:buNone/>
            </a:pPr>
            <a:r>
              <a:rPr lang="en-US" sz="1800" b="1" dirty="0">
                <a:solidFill>
                  <a:srgbClr val="1F3350"/>
                </a:solidFill>
              </a:rPr>
              <a:t>Event Pilot</a:t>
            </a:r>
            <a:endParaRPr lang="en-US" sz="1800" dirty="0"/>
          </a:p>
        </p:txBody>
      </p:sp>
      <p:sp>
        <p:nvSpPr>
          <p:cNvPr id="30" name="Text 27"/>
          <p:cNvSpPr txBox="1"/>
          <p:nvPr/>
        </p:nvSpPr>
        <p:spPr>
          <a:xfrm>
            <a:off x="6858000" y="3767328"/>
            <a:ext cx="1645920" cy="457200"/>
          </a:xfrm>
          <a:prstGeom prst="rect">
            <a:avLst/>
          </a:prstGeom>
          <a:noFill/>
          <a:ln/>
        </p:spPr>
        <p:txBody>
          <a:bodyPr wrap="square" lIns="0" tIns="0" rIns="0" bIns="0" rtlCol="0" anchor="t"/>
          <a:lstStyle/>
          <a:p>
            <a:pPr indent="0" marL="0">
              <a:buNone/>
            </a:pPr>
            <a:r>
              <a:rPr lang="en-US" sz="950" dirty="0">
                <a:solidFill>
                  <a:srgbClr val="546881"/>
                </a:solidFill>
              </a:rPr>
              <a:t>Any Tier 2 airframe at a school event, with a spotter</a:t>
            </a:r>
            <a:endParaRPr lang="en-US" sz="950" dirty="0"/>
          </a:p>
        </p:txBody>
      </p:sp>
      <p:sp>
        <p:nvSpPr>
          <p:cNvPr id="31" name="Text 28"/>
          <p:cNvSpPr txBox="1"/>
          <p:nvPr/>
        </p:nvSpPr>
        <p:spPr>
          <a:xfrm>
            <a:off x="6858000" y="4279392"/>
            <a:ext cx="1645920" cy="201168"/>
          </a:xfrm>
          <a:prstGeom prst="rect">
            <a:avLst/>
          </a:prstGeom>
          <a:noFill/>
          <a:ln/>
        </p:spPr>
        <p:txBody>
          <a:bodyPr wrap="square" lIns="0" tIns="0" rIns="0" bIns="0" rtlCol="0" anchor="ctr"/>
          <a:lstStyle/>
          <a:p>
            <a:pPr indent="0" marL="0">
              <a:buNone/>
            </a:pPr>
            <a:r>
              <a:rPr lang="en-US" sz="750" spc="150" kern="0" dirty="0">
                <a:solidFill>
                  <a:srgbClr val="1F3350"/>
                </a:solidFill>
                <a:latin typeface="Courier New" pitchFamily="34" charset="0"/>
                <a:ea typeface="Courier New" pitchFamily="34" charset="-122"/>
                <a:cs typeface="Courier New" pitchFamily="34" charset="-120"/>
              </a:rPr>
              <a:t>+ 7 ELECTIVES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04 · THE CURRICULUM</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F3350"/>
                </a:solidFill>
              </a:rPr>
              <a:t>28 badges. Four tracks. Every one has a “why”.</a:t>
            </a:r>
            <a:endParaRPr lang="en-US" sz="26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5 / 14  ·  Brophy FPV Club  ·  grant 2026–27</a:t>
            </a:r>
            <a:endParaRPr lang="en-US" sz="800" dirty="0"/>
          </a:p>
        </p:txBody>
      </p:sp>
      <p:sp>
        <p:nvSpPr>
          <p:cNvPr id="7" name="Text 4"/>
          <p:cNvSpPr txBox="1"/>
          <p:nvPr/>
        </p:nvSpPr>
        <p:spPr>
          <a:xfrm>
            <a:off x="457200" y="1325880"/>
            <a:ext cx="1965960" cy="228600"/>
          </a:xfrm>
          <a:prstGeom prst="rect">
            <a:avLst/>
          </a:prstGeom>
          <a:noFill/>
          <a:ln/>
        </p:spPr>
        <p:txBody>
          <a:bodyPr wrap="square" lIns="0" tIns="0" rIns="0" bIns="0" rtlCol="0" anchor="ctr"/>
          <a:lstStyle/>
          <a:p>
            <a:pPr indent="0" marL="0">
              <a:buNone/>
            </a:pPr>
            <a:r>
              <a:rPr lang="en-US" sz="850" b="1" spc="200" kern="0" dirty="0">
                <a:solidFill>
                  <a:srgbClr val="1C5578"/>
                </a:solidFill>
                <a:latin typeface="Courier New" pitchFamily="34" charset="0"/>
                <a:ea typeface="Courier New" pitchFamily="34" charset="-122"/>
                <a:cs typeface="Courier New" pitchFamily="34" charset="-120"/>
              </a:rPr>
              <a:t>FLIGHT</a:t>
            </a:r>
            <a:endParaRPr lang="en-US" sz="850" dirty="0"/>
          </a:p>
        </p:txBody>
      </p:sp>
      <p:sp>
        <p:nvSpPr>
          <p:cNvPr id="8" name="Text 5"/>
          <p:cNvSpPr txBox="1"/>
          <p:nvPr/>
        </p:nvSpPr>
        <p:spPr>
          <a:xfrm>
            <a:off x="457200" y="1572768"/>
            <a:ext cx="1965960" cy="3154680"/>
          </a:xfrm>
          <a:prstGeom prst="rect">
            <a:avLst/>
          </a:prstGeom>
          <a:noFill/>
          <a:ln/>
        </p:spPr>
        <p:txBody>
          <a:bodyPr wrap="square" lIns="0" tIns="0" rIns="0" bIns="0" rtlCol="0" anchor="t"/>
          <a:lstStyle/>
          <a:p>
            <a:pPr indent="0" marL="0">
              <a:spcAft>
                <a:spcPts val="400"/>
              </a:spcAft>
              <a:buNone/>
            </a:pPr>
            <a:r>
              <a:rPr lang="en-US" sz="1050" b="1" dirty="0">
                <a:solidFill>
                  <a:srgbClr val="1F3350"/>
                </a:solidFill>
              </a:rPr>
              <a:t>Simulator Flight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auto</a:t>
            </a:r>
            <a:pPr indent="0" marL="0">
              <a:spcAft>
                <a:spcPts val="400"/>
              </a:spcAft>
              <a:buNone/>
            </a:pPr>
            <a:endParaRPr lang="en-US" sz="1000" dirty="0"/>
          </a:p>
          <a:p>
            <a:pPr indent="0" marL="0">
              <a:spcAft>
                <a:spcPts val="400"/>
              </a:spcAft>
              <a:buNone/>
            </a:pPr>
            <a:r>
              <a:rPr lang="en-US" sz="850" i="1" dirty="0">
                <a:solidFill>
                  <a:srgbClr val="546881"/>
                </a:solidFill>
              </a:rPr>
              <a:t>Acro muscle memory where crashes cost nothing.</a:t>
            </a:r>
            <a:endParaRPr lang="en-US" sz="1000" dirty="0"/>
          </a:p>
          <a:p>
            <a:pPr indent="0" marL="0">
              <a:spcAft>
                <a:spcPts val="400"/>
              </a:spcAft>
              <a:buNone/>
            </a:pPr>
            <a:r>
              <a:rPr lang="en-US" sz="1050" b="1" dirty="0">
                <a:solidFill>
                  <a:srgbClr val="1F3350"/>
                </a:solidFill>
              </a:rPr>
              <a:t>Proficient Flight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witnessed</a:t>
            </a:r>
            <a:pPr indent="0" marL="0">
              <a:spcAft>
                <a:spcPts val="400"/>
              </a:spcAft>
              <a:buNone/>
            </a:pPr>
            <a:endParaRPr lang="en-US" sz="1000" dirty="0"/>
          </a:p>
          <a:p>
            <a:pPr indent="0" marL="0">
              <a:spcAft>
                <a:spcPts val="400"/>
              </a:spcAft>
              <a:buNone/>
            </a:pPr>
            <a:r>
              <a:rPr lang="en-US" sz="850" i="1" dirty="0">
                <a:solidFill>
                  <a:srgbClr val="546881"/>
                </a:solidFill>
              </a:rPr>
              <a:t>Real control, not just hovering. Sim-only, so it can gate the first real flight.</a:t>
            </a:r>
            <a:endParaRPr lang="en-US" sz="1000" dirty="0"/>
          </a:p>
          <a:p>
            <a:pPr indent="0" marL="0">
              <a:spcAft>
                <a:spcPts val="400"/>
              </a:spcAft>
              <a:buNone/>
            </a:pPr>
            <a:r>
              <a:rPr lang="en-US" sz="1050" b="1" dirty="0">
                <a:solidFill>
                  <a:srgbClr val="1F3350"/>
                </a:solidFill>
              </a:rPr>
              <a:t>Line of Sight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witnessed</a:t>
            </a:r>
            <a:pPr indent="0" marL="0">
              <a:spcAft>
                <a:spcPts val="400"/>
              </a:spcAft>
              <a:buNone/>
            </a:pPr>
            <a:endParaRPr lang="en-US" sz="1000" dirty="0"/>
          </a:p>
          <a:p>
            <a:pPr indent="0" marL="0">
              <a:spcAft>
                <a:spcPts val="400"/>
              </a:spcAft>
              <a:buNone/>
            </a:pPr>
            <a:r>
              <a:rPr lang="en-US" sz="850" i="1" dirty="0">
                <a:solidFill>
                  <a:srgbClr val="546881"/>
                </a:solidFill>
              </a:rPr>
              <a:t>If video cuts out, the pilot can still level out and land.</a:t>
            </a:r>
            <a:endParaRPr lang="en-US" sz="1000" dirty="0"/>
          </a:p>
          <a:p>
            <a:pPr indent="0" marL="0">
              <a:spcAft>
                <a:spcPts val="400"/>
              </a:spcAft>
              <a:buNone/>
            </a:pPr>
            <a:r>
              <a:rPr lang="en-US" sz="1050" b="1" dirty="0">
                <a:solidFill>
                  <a:srgbClr val="1F3350"/>
                </a:solidFill>
              </a:rPr>
              <a:t>Tiny Whoop</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witnessed</a:t>
            </a:r>
            <a:pPr indent="0" marL="0">
              <a:spcAft>
                <a:spcPts val="400"/>
              </a:spcAft>
              <a:buNone/>
            </a:pPr>
            <a:endParaRPr lang="en-US" sz="1000" dirty="0"/>
          </a:p>
          <a:p>
            <a:pPr indent="0" marL="0">
              <a:spcAft>
                <a:spcPts val="400"/>
              </a:spcAft>
              <a:buNone/>
            </a:pPr>
            <a:r>
              <a:rPr lang="en-US" sz="850" i="1" dirty="0">
                <a:solidFill>
                  <a:srgbClr val="546881"/>
                </a:solidFill>
              </a:rPr>
              <a:t>First real flight on a sub-250 g drone that can’t do much damage.</a:t>
            </a:r>
            <a:endParaRPr lang="en-US" sz="1000" dirty="0"/>
          </a:p>
          <a:p>
            <a:pPr indent="0" marL="0">
              <a:spcAft>
                <a:spcPts val="400"/>
              </a:spcAft>
              <a:buNone/>
            </a:pPr>
            <a:r>
              <a:rPr lang="en-US" sz="1050" b="1" dirty="0">
                <a:solidFill>
                  <a:srgbClr val="1F3350"/>
                </a:solidFill>
              </a:rPr>
              <a:t>Freestyle Flight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witnessed</a:t>
            </a:r>
            <a:pPr indent="0" marL="0">
              <a:spcAft>
                <a:spcPts val="400"/>
              </a:spcAft>
              <a:buNone/>
            </a:pPr>
            <a:endParaRPr lang="en-US" sz="1000" dirty="0"/>
          </a:p>
          <a:p>
            <a:pPr indent="0" marL="0">
              <a:spcAft>
                <a:spcPts val="400"/>
              </a:spcAft>
              <a:buNone/>
            </a:pPr>
            <a:r>
              <a:rPr lang="en-US" sz="850" i="1" dirty="0">
                <a:solidFill>
                  <a:srgbClr val="546881"/>
                </a:solidFill>
              </a:rPr>
              <a:t>Advanced control before flying expensive airframes.</a:t>
            </a:r>
            <a:endParaRPr lang="en-US" sz="1000" dirty="0"/>
          </a:p>
          <a:p>
            <a:pPr indent="0" marL="0">
              <a:spcAft>
                <a:spcPts val="400"/>
              </a:spcAft>
              <a:buNone/>
            </a:pPr>
            <a:r>
              <a:rPr lang="en-US" sz="1050" b="1" dirty="0">
                <a:solidFill>
                  <a:srgbClr val="1F3350"/>
                </a:solidFill>
              </a:rPr>
              <a:t>Indoor Proximity</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witnessed</a:t>
            </a:r>
            <a:pPr indent="0" marL="0">
              <a:spcAft>
                <a:spcPts val="400"/>
              </a:spcAft>
              <a:buNone/>
            </a:pPr>
            <a:endParaRPr lang="en-US" sz="1000" dirty="0"/>
          </a:p>
          <a:p>
            <a:pPr indent="0" marL="0">
              <a:spcAft>
                <a:spcPts val="400"/>
              </a:spcAft>
              <a:buNone/>
            </a:pPr>
            <a:r>
              <a:rPr lang="en-US" sz="850" i="1" dirty="0">
                <a:solidFill>
                  <a:srgbClr val="546881"/>
                </a:solidFill>
              </a:rPr>
              <a:t>Precision in tight spaces — what an indoor rally race demands. Racing.</a:t>
            </a:r>
            <a:endParaRPr lang="en-US" sz="1000" dirty="0"/>
          </a:p>
          <a:p>
            <a:pPr indent="0" marL="0">
              <a:spcAft>
                <a:spcPts val="400"/>
              </a:spcAft>
              <a:buNone/>
            </a:pPr>
            <a:r>
              <a:rPr lang="en-US" sz="1050" b="1" dirty="0">
                <a:solidFill>
                  <a:srgbClr val="1F3350"/>
                </a:solidFill>
              </a:rPr>
              <a:t>Racing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witnessed</a:t>
            </a:r>
            <a:pPr indent="0" marL="0">
              <a:spcAft>
                <a:spcPts val="400"/>
              </a:spcAft>
              <a:buNone/>
            </a:pPr>
            <a:endParaRPr lang="en-US" sz="1000" dirty="0"/>
          </a:p>
          <a:p>
            <a:pPr indent="0" marL="0">
              <a:spcAft>
                <a:spcPts val="400"/>
              </a:spcAft>
              <a:buNone/>
            </a:pPr>
            <a:r>
              <a:rPr lang="en-US" sz="850" i="1" dirty="0">
                <a:solidFill>
                  <a:srgbClr val="546881"/>
                </a:solidFill>
              </a:rPr>
              <a:t>Gate discipline under pressure; qualifies a pilot for the rally race. Racing.</a:t>
            </a:r>
            <a:endParaRPr lang="en-US" sz="1000" dirty="0"/>
          </a:p>
        </p:txBody>
      </p:sp>
      <p:sp>
        <p:nvSpPr>
          <p:cNvPr id="9" name="Text 6"/>
          <p:cNvSpPr txBox="1"/>
          <p:nvPr/>
        </p:nvSpPr>
        <p:spPr>
          <a:xfrm>
            <a:off x="2560320" y="1325880"/>
            <a:ext cx="1965960" cy="228600"/>
          </a:xfrm>
          <a:prstGeom prst="rect">
            <a:avLst/>
          </a:prstGeom>
          <a:noFill/>
          <a:ln/>
        </p:spPr>
        <p:txBody>
          <a:bodyPr wrap="square" lIns="0" tIns="0" rIns="0" bIns="0" rtlCol="0" anchor="ctr"/>
          <a:lstStyle/>
          <a:p>
            <a:pPr indent="0" marL="0">
              <a:buNone/>
            </a:pPr>
            <a:r>
              <a:rPr lang="en-US" sz="850" b="1" spc="200" kern="0" dirty="0">
                <a:solidFill>
                  <a:srgbClr val="7D5810"/>
                </a:solidFill>
                <a:latin typeface="Courier New" pitchFamily="34" charset="0"/>
                <a:ea typeface="Courier New" pitchFamily="34" charset="-122"/>
                <a:cs typeface="Courier New" pitchFamily="34" charset="-120"/>
              </a:rPr>
              <a:t>BUILD &amp; TECH</a:t>
            </a:r>
            <a:endParaRPr lang="en-US" sz="850" dirty="0"/>
          </a:p>
        </p:txBody>
      </p:sp>
      <p:sp>
        <p:nvSpPr>
          <p:cNvPr id="10" name="Text 7"/>
          <p:cNvSpPr txBox="1"/>
          <p:nvPr/>
        </p:nvSpPr>
        <p:spPr>
          <a:xfrm>
            <a:off x="2560320" y="1572768"/>
            <a:ext cx="1965960" cy="3154680"/>
          </a:xfrm>
          <a:prstGeom prst="rect">
            <a:avLst/>
          </a:prstGeom>
          <a:noFill/>
          <a:ln/>
        </p:spPr>
        <p:txBody>
          <a:bodyPr wrap="square" lIns="0" tIns="0" rIns="0" bIns="0" rtlCol="0" anchor="t"/>
          <a:lstStyle/>
          <a:p>
            <a:pPr indent="0" marL="0">
              <a:spcAft>
                <a:spcPts val="400"/>
              </a:spcAft>
              <a:buNone/>
            </a:pPr>
            <a:r>
              <a:rPr lang="en-US" sz="1050" b="1" dirty="0">
                <a:solidFill>
                  <a:srgbClr val="1F3350"/>
                </a:solidFill>
              </a:rPr>
              <a:t>Battery Care</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quiz</a:t>
            </a:r>
            <a:pPr indent="0" marL="0">
              <a:spcAft>
                <a:spcPts val="400"/>
              </a:spcAft>
              <a:buNone/>
            </a:pPr>
            <a:endParaRPr lang="en-US" sz="1000" dirty="0"/>
          </a:p>
          <a:p>
            <a:pPr indent="0" marL="0">
              <a:spcAft>
                <a:spcPts val="400"/>
              </a:spcAft>
              <a:buNone/>
            </a:pPr>
            <a:r>
              <a:rPr lang="en-US" sz="850" i="1" dirty="0">
                <a:solidFill>
                  <a:srgbClr val="546881"/>
                </a:solidFill>
              </a:rPr>
              <a:t>LiPos are the biggest real fire risk in the hobby.</a:t>
            </a:r>
            <a:endParaRPr lang="en-US" sz="1000" dirty="0"/>
          </a:p>
          <a:p>
            <a:pPr indent="0" marL="0">
              <a:spcAft>
                <a:spcPts val="400"/>
              </a:spcAft>
              <a:buNone/>
            </a:pPr>
            <a:r>
              <a:rPr lang="en-US" sz="1050" b="1" dirty="0">
                <a:solidFill>
                  <a:srgbClr val="1F3350"/>
                </a:solidFill>
              </a:rPr>
              <a:t>Building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bench</a:t>
            </a:r>
            <a:pPr indent="0" marL="0">
              <a:spcAft>
                <a:spcPts val="400"/>
              </a:spcAft>
              <a:buNone/>
            </a:pPr>
            <a:endParaRPr lang="en-US" sz="1000" dirty="0"/>
          </a:p>
          <a:p>
            <a:pPr indent="0" marL="0">
              <a:spcAft>
                <a:spcPts val="400"/>
              </a:spcAft>
              <a:buNone/>
            </a:pPr>
            <a:r>
              <a:rPr lang="en-US" sz="850" i="1" dirty="0">
                <a:solidFill>
                  <a:srgbClr val="546881"/>
                </a:solidFill>
              </a:rPr>
              <a:t>Members can fix what they break.</a:t>
            </a:r>
            <a:endParaRPr lang="en-US" sz="1000" dirty="0"/>
          </a:p>
          <a:p>
            <a:pPr indent="0" marL="0">
              <a:spcAft>
                <a:spcPts val="400"/>
              </a:spcAft>
              <a:buNone/>
            </a:pPr>
            <a:r>
              <a:rPr lang="en-US" sz="1050" b="1" dirty="0">
                <a:solidFill>
                  <a:srgbClr val="1F3350"/>
                </a:solidFill>
              </a:rPr>
              <a:t>Betaflight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bench</a:t>
            </a:r>
            <a:pPr indent="0" marL="0">
              <a:spcAft>
                <a:spcPts val="400"/>
              </a:spcAft>
              <a:buNone/>
            </a:pPr>
            <a:endParaRPr lang="en-US" sz="1000" dirty="0"/>
          </a:p>
          <a:p>
            <a:pPr indent="0" marL="0">
              <a:spcAft>
                <a:spcPts val="400"/>
              </a:spcAft>
              <a:buNone/>
            </a:pPr>
            <a:r>
              <a:rPr lang="en-US" sz="850" i="1" dirty="0">
                <a:solidFill>
                  <a:srgbClr val="546881"/>
                </a:solidFill>
              </a:rPr>
              <a:t>Most “won’t fly” problems get solved here.</a:t>
            </a:r>
            <a:endParaRPr lang="en-US" sz="1000" dirty="0"/>
          </a:p>
          <a:p>
            <a:pPr indent="0" marL="0">
              <a:spcAft>
                <a:spcPts val="400"/>
              </a:spcAft>
              <a:buNone/>
            </a:pPr>
            <a:r>
              <a:rPr lang="en-US" sz="1050" b="1" dirty="0">
                <a:solidFill>
                  <a:srgbClr val="1F3350"/>
                </a:solidFill>
              </a:rPr>
              <a:t>Soldering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bench</a:t>
            </a:r>
            <a:pPr indent="0" marL="0">
              <a:spcAft>
                <a:spcPts val="400"/>
              </a:spcAft>
              <a:buNone/>
            </a:pPr>
            <a:endParaRPr lang="en-US" sz="1000" dirty="0"/>
          </a:p>
          <a:p>
            <a:pPr indent="0" marL="0">
              <a:spcAft>
                <a:spcPts val="400"/>
              </a:spcAft>
              <a:buNone/>
            </a:pPr>
            <a:r>
              <a:rPr lang="en-US" sz="850" i="1" dirty="0">
                <a:solidFill>
                  <a:srgbClr val="546881"/>
                </a:solidFill>
              </a:rPr>
              <a:t>Core electronics skill that transfers to robotics.</a:t>
            </a:r>
            <a:endParaRPr lang="en-US" sz="1000" dirty="0"/>
          </a:p>
          <a:p>
            <a:pPr indent="0" marL="0">
              <a:spcAft>
                <a:spcPts val="400"/>
              </a:spcAft>
              <a:buNone/>
            </a:pPr>
            <a:r>
              <a:rPr lang="en-US" sz="1050" b="1" dirty="0">
                <a:solidFill>
                  <a:srgbClr val="1F3350"/>
                </a:solidFill>
              </a:rPr>
              <a:t>Field Repair</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bench</a:t>
            </a:r>
            <a:pPr indent="0" marL="0">
              <a:spcAft>
                <a:spcPts val="400"/>
              </a:spcAft>
              <a:buNone/>
            </a:pPr>
            <a:endParaRPr lang="en-US" sz="1000" dirty="0"/>
          </a:p>
          <a:p>
            <a:pPr indent="0" marL="0">
              <a:spcAft>
                <a:spcPts val="400"/>
              </a:spcAft>
              <a:buNone/>
            </a:pPr>
            <a:r>
              <a:rPr lang="en-US" sz="850" i="1" dirty="0">
                <a:solidFill>
                  <a:srgbClr val="546881"/>
                </a:solidFill>
              </a:rPr>
              <a:t>Keeps a shoot going instead of ending it.</a:t>
            </a:r>
            <a:endParaRPr lang="en-US" sz="1000" dirty="0"/>
          </a:p>
          <a:p>
            <a:pPr indent="0" marL="0">
              <a:spcAft>
                <a:spcPts val="400"/>
              </a:spcAft>
              <a:buNone/>
            </a:pPr>
            <a:r>
              <a:rPr lang="en-US" sz="1050" b="1" dirty="0">
                <a:solidFill>
                  <a:srgbClr val="1F3350"/>
                </a:solidFill>
              </a:rPr>
              <a:t>Video Systems</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bench</a:t>
            </a:r>
            <a:pPr indent="0" marL="0">
              <a:spcAft>
                <a:spcPts val="400"/>
              </a:spcAft>
              <a:buNone/>
            </a:pPr>
            <a:endParaRPr lang="en-US" sz="1000" dirty="0"/>
          </a:p>
          <a:p>
            <a:pPr indent="0" marL="0">
              <a:spcAft>
                <a:spcPts val="400"/>
              </a:spcAft>
              <a:buNone/>
            </a:pPr>
            <a:r>
              <a:rPr lang="en-US" sz="850" i="1" dirty="0">
                <a:solidFill>
                  <a:srgbClr val="546881"/>
                </a:solidFill>
              </a:rPr>
              <a:t>Footage the editor can actually use.</a:t>
            </a:r>
            <a:endParaRPr lang="en-US" sz="1000" dirty="0"/>
          </a:p>
          <a:p>
            <a:pPr indent="0" marL="0">
              <a:spcAft>
                <a:spcPts val="400"/>
              </a:spcAft>
              <a:buNone/>
            </a:pPr>
            <a:r>
              <a:rPr lang="en-US" sz="1050" b="1" dirty="0">
                <a:solidFill>
                  <a:srgbClr val="1F3350"/>
                </a:solidFill>
              </a:rPr>
              <a:t>Tuning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bench</a:t>
            </a:r>
            <a:pPr indent="0" marL="0">
              <a:spcAft>
                <a:spcPts val="400"/>
              </a:spcAft>
              <a:buNone/>
            </a:pPr>
            <a:endParaRPr lang="en-US" sz="1000" dirty="0"/>
          </a:p>
          <a:p>
            <a:pPr indent="0" marL="0">
              <a:spcAft>
                <a:spcPts val="400"/>
              </a:spcAft>
              <a:buNone/>
            </a:pPr>
            <a:r>
              <a:rPr lang="en-US" sz="850" i="1" dirty="0">
                <a:solidFill>
                  <a:srgbClr val="546881"/>
                </a:solidFill>
              </a:rPr>
              <a:t>The skill behind smooth cinematic footage.</a:t>
            </a:r>
            <a:endParaRPr lang="en-US" sz="1000" dirty="0"/>
          </a:p>
        </p:txBody>
      </p:sp>
      <p:sp>
        <p:nvSpPr>
          <p:cNvPr id="11" name="Text 8"/>
          <p:cNvSpPr txBox="1"/>
          <p:nvPr/>
        </p:nvSpPr>
        <p:spPr>
          <a:xfrm>
            <a:off x="4663440" y="1325880"/>
            <a:ext cx="1965960" cy="228600"/>
          </a:xfrm>
          <a:prstGeom prst="rect">
            <a:avLst/>
          </a:prstGeom>
          <a:noFill/>
          <a:ln/>
        </p:spPr>
        <p:txBody>
          <a:bodyPr wrap="square" lIns="0" tIns="0" rIns="0" bIns="0" rtlCol="0" anchor="ctr"/>
          <a:lstStyle/>
          <a:p>
            <a:pPr indent="0" marL="0">
              <a:buNone/>
            </a:pPr>
            <a:r>
              <a:rPr lang="en-US" sz="850" b="1" spc="200" kern="0" dirty="0">
                <a:solidFill>
                  <a:srgbClr val="1F5230"/>
                </a:solidFill>
                <a:latin typeface="Courier New" pitchFamily="34" charset="0"/>
                <a:ea typeface="Courier New" pitchFamily="34" charset="-122"/>
                <a:cs typeface="Courier New" pitchFamily="34" charset="-120"/>
              </a:rPr>
              <a:t>KNOWLEDGE &amp; SAFETY</a:t>
            </a:r>
            <a:endParaRPr lang="en-US" sz="850" dirty="0"/>
          </a:p>
        </p:txBody>
      </p:sp>
      <p:sp>
        <p:nvSpPr>
          <p:cNvPr id="12" name="Text 9"/>
          <p:cNvSpPr txBox="1"/>
          <p:nvPr/>
        </p:nvSpPr>
        <p:spPr>
          <a:xfrm>
            <a:off x="4663440" y="1572768"/>
            <a:ext cx="1965960" cy="3154680"/>
          </a:xfrm>
          <a:prstGeom prst="rect">
            <a:avLst/>
          </a:prstGeom>
          <a:noFill/>
          <a:ln/>
        </p:spPr>
        <p:txBody>
          <a:bodyPr wrap="square" lIns="0" tIns="0" rIns="0" bIns="0" rtlCol="0" anchor="t"/>
          <a:lstStyle/>
          <a:p>
            <a:pPr indent="0" marL="0">
              <a:spcAft>
                <a:spcPts val="400"/>
              </a:spcAft>
              <a:buNone/>
            </a:pPr>
            <a:r>
              <a:rPr lang="en-US" sz="1050" b="1" dirty="0">
                <a:solidFill>
                  <a:srgbClr val="1F3350"/>
                </a:solidFill>
              </a:rPr>
              <a:t>Safe Flight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T0 · quiz</a:t>
            </a:r>
            <a:pPr indent="0" marL="0">
              <a:spcAft>
                <a:spcPts val="400"/>
              </a:spcAft>
              <a:buNone/>
            </a:pPr>
            <a:endParaRPr lang="en-US" sz="1000" dirty="0"/>
          </a:p>
          <a:p>
            <a:pPr indent="0" marL="0">
              <a:spcAft>
                <a:spcPts val="400"/>
              </a:spcAft>
              <a:buNone/>
            </a:pPr>
            <a:r>
              <a:rPr lang="en-US" sz="850" i="1" dirty="0">
                <a:solidFill>
                  <a:srgbClr val="546881"/>
                </a:solidFill>
              </a:rPr>
              <a:t>The baseline code of conduct for real hardware.</a:t>
            </a:r>
            <a:endParaRPr lang="en-US" sz="1000" dirty="0"/>
          </a:p>
          <a:p>
            <a:pPr indent="0" marL="0">
              <a:spcAft>
                <a:spcPts val="400"/>
              </a:spcAft>
              <a:buNone/>
            </a:pPr>
            <a:r>
              <a:rPr lang="en-US" sz="1050" b="1" dirty="0">
                <a:solidFill>
                  <a:srgbClr val="1F3350"/>
                </a:solidFill>
              </a:rPr>
              <a:t>Electrical Components</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quiz</a:t>
            </a:r>
            <a:pPr indent="0" marL="0">
              <a:spcAft>
                <a:spcPts val="400"/>
              </a:spcAft>
              <a:buNone/>
            </a:pPr>
            <a:endParaRPr lang="en-US" sz="1000" dirty="0"/>
          </a:p>
          <a:p>
            <a:pPr indent="0" marL="0">
              <a:spcAft>
                <a:spcPts val="400"/>
              </a:spcAft>
              <a:buNone/>
            </a:pPr>
            <a:r>
              <a:rPr lang="en-US" sz="850" i="1" dirty="0">
                <a:solidFill>
                  <a:srgbClr val="546881"/>
                </a:solidFill>
              </a:rPr>
              <a:t>Why a 3-inch and a 5-inch need different parts.</a:t>
            </a:r>
            <a:endParaRPr lang="en-US" sz="1000" dirty="0"/>
          </a:p>
          <a:p>
            <a:pPr indent="0" marL="0">
              <a:spcAft>
                <a:spcPts val="400"/>
              </a:spcAft>
              <a:buNone/>
            </a:pPr>
            <a:r>
              <a:rPr lang="en-US" sz="1050" b="1" dirty="0">
                <a:solidFill>
                  <a:srgbClr val="1F3350"/>
                </a:solidFill>
              </a:rPr>
              <a:t>Radio Protocol</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T1 · quiz</a:t>
            </a:r>
            <a:pPr indent="0" marL="0">
              <a:spcAft>
                <a:spcPts val="400"/>
              </a:spcAft>
              <a:buNone/>
            </a:pPr>
            <a:endParaRPr lang="en-US" sz="1000" dirty="0"/>
          </a:p>
          <a:p>
            <a:pPr indent="0" marL="0">
              <a:spcAft>
                <a:spcPts val="400"/>
              </a:spcAft>
              <a:buNone/>
            </a:pPr>
            <a:r>
              <a:rPr lang="en-US" sz="850" i="1" dirty="0">
                <a:solidFill>
                  <a:srgbClr val="546881"/>
                </a:solidFill>
              </a:rPr>
              <a:t>Prevents dropouts and interference at events.</a:t>
            </a:r>
            <a:endParaRPr lang="en-US" sz="1000" dirty="0"/>
          </a:p>
          <a:p>
            <a:pPr indent="0" marL="0">
              <a:spcAft>
                <a:spcPts val="400"/>
              </a:spcAft>
              <a:buNone/>
            </a:pPr>
            <a:r>
              <a:rPr lang="en-US" sz="1050" b="1" dirty="0">
                <a:solidFill>
                  <a:srgbClr val="1F3350"/>
                </a:solidFill>
              </a:rPr>
              <a:t>FAA TRUST</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witnessed</a:t>
            </a:r>
            <a:pPr indent="0" marL="0">
              <a:spcAft>
                <a:spcPts val="400"/>
              </a:spcAft>
              <a:buNone/>
            </a:pPr>
            <a:endParaRPr lang="en-US" sz="1000" dirty="0"/>
          </a:p>
          <a:p>
            <a:pPr indent="0" marL="0">
              <a:spcAft>
                <a:spcPts val="400"/>
              </a:spcAft>
              <a:buNone/>
            </a:pPr>
            <a:r>
              <a:rPr lang="en-US" sz="850" i="1" dirty="0">
                <a:solidFill>
                  <a:srgbClr val="546881"/>
                </a:solidFill>
              </a:rPr>
              <a:t>Federal requirement for recreational flyers. Official.</a:t>
            </a:r>
            <a:endParaRPr lang="en-US" sz="1000" dirty="0"/>
          </a:p>
          <a:p>
            <a:pPr indent="0" marL="0">
              <a:spcAft>
                <a:spcPts val="400"/>
              </a:spcAft>
              <a:buNone/>
            </a:pPr>
            <a:r>
              <a:rPr lang="en-US" sz="1050" b="1" dirty="0">
                <a:solidFill>
                  <a:srgbClr val="1F3350"/>
                </a:solidFill>
              </a:rPr>
              <a:t>Airspace</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quiz</a:t>
            </a:r>
            <a:pPr indent="0" marL="0">
              <a:spcAft>
                <a:spcPts val="400"/>
              </a:spcAft>
              <a:buNone/>
            </a:pPr>
            <a:endParaRPr lang="en-US" sz="1000" dirty="0"/>
          </a:p>
          <a:p>
            <a:pPr indent="0" marL="0">
              <a:spcAft>
                <a:spcPts val="400"/>
              </a:spcAft>
              <a:buNone/>
            </a:pPr>
            <a:r>
              <a:rPr lang="en-US" sz="850" i="1" dirty="0">
                <a:solidFill>
                  <a:srgbClr val="546881"/>
                </a:solidFill>
              </a:rPr>
              <a:t>Brophy is near Sky Harbor’s controlled airspace.</a:t>
            </a:r>
            <a:endParaRPr lang="en-US" sz="1000" dirty="0"/>
          </a:p>
          <a:p>
            <a:pPr indent="0" marL="0">
              <a:spcAft>
                <a:spcPts val="400"/>
              </a:spcAft>
              <a:buNone/>
            </a:pPr>
            <a:r>
              <a:rPr lang="en-US" sz="1050" b="1" dirty="0">
                <a:solidFill>
                  <a:srgbClr val="1F3350"/>
                </a:solidFill>
              </a:rPr>
              <a:t>Emergency Procedures</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quiz</a:t>
            </a:r>
            <a:pPr indent="0" marL="0">
              <a:spcAft>
                <a:spcPts val="400"/>
              </a:spcAft>
              <a:buNone/>
            </a:pPr>
            <a:endParaRPr lang="en-US" sz="1000" dirty="0"/>
          </a:p>
          <a:p>
            <a:pPr indent="0" marL="0">
              <a:spcAft>
                <a:spcPts val="400"/>
              </a:spcAft>
              <a:buNone/>
            </a:pPr>
            <a:r>
              <a:rPr lang="en-US" sz="850" i="1" dirty="0">
                <a:solidFill>
                  <a:srgbClr val="546881"/>
                </a:solidFill>
              </a:rPr>
              <a:t>A plan for when something goes wrong.</a:t>
            </a:r>
            <a:endParaRPr lang="en-US" sz="1000" dirty="0"/>
          </a:p>
          <a:p>
            <a:pPr indent="0" marL="0">
              <a:spcAft>
                <a:spcPts val="400"/>
              </a:spcAft>
              <a:buNone/>
            </a:pPr>
            <a:r>
              <a:rPr lang="en-US" sz="1050" b="1" dirty="0">
                <a:solidFill>
                  <a:srgbClr val="1F3350"/>
                </a:solidFill>
              </a:rPr>
              <a:t>Event Ops</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quiz</a:t>
            </a:r>
            <a:pPr indent="0" marL="0">
              <a:spcAft>
                <a:spcPts val="400"/>
              </a:spcAft>
              <a:buNone/>
            </a:pPr>
            <a:endParaRPr lang="en-US" sz="1000" dirty="0"/>
          </a:p>
          <a:p>
            <a:pPr indent="0" marL="0">
              <a:spcAft>
                <a:spcPts val="400"/>
              </a:spcAft>
              <a:buNone/>
            </a:pPr>
            <a:r>
              <a:rPr lang="en-US" sz="850" i="1" dirty="0">
                <a:solidFill>
                  <a:srgbClr val="546881"/>
                </a:solidFill>
              </a:rPr>
              <a:t>Ground work before flying at a game or rally.</a:t>
            </a:r>
            <a:endParaRPr lang="en-US" sz="1000" dirty="0"/>
          </a:p>
        </p:txBody>
      </p:sp>
      <p:sp>
        <p:nvSpPr>
          <p:cNvPr id="13" name="Text 10"/>
          <p:cNvSpPr txBox="1"/>
          <p:nvPr/>
        </p:nvSpPr>
        <p:spPr>
          <a:xfrm>
            <a:off x="6766560" y="1325880"/>
            <a:ext cx="1965960" cy="228600"/>
          </a:xfrm>
          <a:prstGeom prst="rect">
            <a:avLst/>
          </a:prstGeom>
          <a:noFill/>
          <a:ln/>
        </p:spPr>
        <p:txBody>
          <a:bodyPr wrap="square" lIns="0" tIns="0" rIns="0" bIns="0" rtlCol="0" anchor="ctr"/>
          <a:lstStyle/>
          <a:p>
            <a:pPr indent="0" marL="0">
              <a:buNone/>
            </a:pPr>
            <a:r>
              <a:rPr lang="en-US" sz="850" b="1" spc="200" kern="0" dirty="0">
                <a:solidFill>
                  <a:srgbClr val="4B3287"/>
                </a:solidFill>
                <a:latin typeface="Courier New" pitchFamily="34" charset="0"/>
                <a:ea typeface="Courier New" pitchFamily="34" charset="-122"/>
                <a:cs typeface="Courier New" pitchFamily="34" charset="-120"/>
              </a:rPr>
              <a:t>CREW &amp; LEADERSHIP</a:t>
            </a:r>
            <a:endParaRPr lang="en-US" sz="850" dirty="0"/>
          </a:p>
        </p:txBody>
      </p:sp>
      <p:sp>
        <p:nvSpPr>
          <p:cNvPr id="14" name="Text 11"/>
          <p:cNvSpPr txBox="1"/>
          <p:nvPr/>
        </p:nvSpPr>
        <p:spPr>
          <a:xfrm>
            <a:off x="6766560" y="1572768"/>
            <a:ext cx="1965960" cy="3154680"/>
          </a:xfrm>
          <a:prstGeom prst="rect">
            <a:avLst/>
          </a:prstGeom>
          <a:noFill/>
          <a:ln/>
        </p:spPr>
        <p:txBody>
          <a:bodyPr wrap="square" lIns="0" tIns="0" rIns="0" bIns="0" rtlCol="0" anchor="t"/>
          <a:lstStyle/>
          <a:p>
            <a:pPr indent="0" marL="0">
              <a:spcAft>
                <a:spcPts val="400"/>
              </a:spcAft>
              <a:buNone/>
            </a:pPr>
            <a:r>
              <a:rPr lang="en-US" sz="1050" b="1" dirty="0">
                <a:solidFill>
                  <a:srgbClr val="1F3350"/>
                </a:solidFill>
              </a:rPr>
              <a:t>Spotter</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witnessed</a:t>
            </a:r>
            <a:pPr indent="0" marL="0">
              <a:spcAft>
                <a:spcPts val="400"/>
              </a:spcAft>
              <a:buNone/>
            </a:pPr>
            <a:endParaRPr lang="en-US" sz="1000" dirty="0"/>
          </a:p>
          <a:p>
            <a:pPr indent="0" marL="0">
              <a:spcAft>
                <a:spcPts val="400"/>
              </a:spcAft>
              <a:buNone/>
            </a:pPr>
            <a:r>
              <a:rPr lang="en-US" sz="850" i="1" dirty="0">
                <a:solidFill>
                  <a:srgbClr val="546881"/>
                </a:solidFill>
              </a:rPr>
              <a:t>FPV pilots can’t see around themselves.</a:t>
            </a:r>
            <a:endParaRPr lang="en-US" sz="1000" dirty="0"/>
          </a:p>
          <a:p>
            <a:pPr indent="0" marL="0">
              <a:spcAft>
                <a:spcPts val="400"/>
              </a:spcAft>
              <a:buNone/>
            </a:pPr>
            <a:r>
              <a:rPr lang="en-US" sz="1050" b="1" dirty="0">
                <a:solidFill>
                  <a:srgbClr val="1F3350"/>
                </a:solidFill>
              </a:rPr>
              <a:t>Cinematography</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T2 · witnessed</a:t>
            </a:r>
            <a:pPr indent="0" marL="0">
              <a:spcAft>
                <a:spcPts val="400"/>
              </a:spcAft>
              <a:buNone/>
            </a:pPr>
            <a:endParaRPr lang="en-US" sz="1000" dirty="0"/>
          </a:p>
          <a:p>
            <a:pPr indent="0" marL="0">
              <a:spcAft>
                <a:spcPts val="400"/>
              </a:spcAft>
              <a:buNone/>
            </a:pPr>
            <a:r>
              <a:rPr lang="en-US" sz="850" i="1" dirty="0">
                <a:solidFill>
                  <a:srgbClr val="546881"/>
                </a:solidFill>
              </a:rPr>
              <a:t>Turns pilots into shooters for Best of Brophy. Filming.</a:t>
            </a:r>
            <a:endParaRPr lang="en-US" sz="1000" dirty="0"/>
          </a:p>
          <a:p>
            <a:pPr indent="0" marL="0">
              <a:spcAft>
                <a:spcPts val="400"/>
              </a:spcAft>
              <a:buNone/>
            </a:pPr>
            <a:r>
              <a:rPr lang="en-US" sz="1050" b="1" dirty="0">
                <a:solidFill>
                  <a:srgbClr val="1F3350"/>
                </a:solidFill>
              </a:rPr>
              <a:t>Shot Planning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witnessed</a:t>
            </a:r>
            <a:pPr indent="0" marL="0">
              <a:spcAft>
                <a:spcPts val="400"/>
              </a:spcAft>
              <a:buNone/>
            </a:pPr>
            <a:endParaRPr lang="en-US" sz="1000" dirty="0"/>
          </a:p>
          <a:p>
            <a:pPr indent="0" marL="0">
              <a:spcAft>
                <a:spcPts val="400"/>
              </a:spcAft>
              <a:buNone/>
            </a:pPr>
            <a:r>
              <a:rPr lang="en-US" sz="850" i="1" dirty="0">
                <a:solidFill>
                  <a:srgbClr val="546881"/>
                </a:solidFill>
              </a:rPr>
              <a:t>Working with other organizations professionally.</a:t>
            </a:r>
            <a:endParaRPr lang="en-US" sz="1000" dirty="0"/>
          </a:p>
          <a:p>
            <a:pPr indent="0" marL="0">
              <a:spcAft>
                <a:spcPts val="400"/>
              </a:spcAft>
              <a:buNone/>
            </a:pPr>
            <a:r>
              <a:rPr lang="en-US" sz="1050" b="1" dirty="0">
                <a:solidFill>
                  <a:srgbClr val="1F3350"/>
                </a:solidFill>
              </a:rPr>
              <a:t>Editing</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witnessed</a:t>
            </a:r>
            <a:pPr indent="0" marL="0">
              <a:spcAft>
                <a:spcPts val="400"/>
              </a:spcAft>
              <a:buNone/>
            </a:pPr>
            <a:endParaRPr lang="en-US" sz="1000" dirty="0"/>
          </a:p>
          <a:p>
            <a:pPr indent="0" marL="0">
              <a:spcAft>
                <a:spcPts val="400"/>
              </a:spcAft>
              <a:buNone/>
            </a:pPr>
            <a:r>
              <a:rPr lang="en-US" sz="850" i="1" dirty="0">
                <a:solidFill>
                  <a:srgbClr val="546881"/>
                </a:solidFill>
              </a:rPr>
              <a:t>Best of Brophy doesn’t depend on one editor.</a:t>
            </a:r>
            <a:endParaRPr lang="en-US" sz="1000" dirty="0"/>
          </a:p>
          <a:p>
            <a:pPr indent="0" marL="0">
              <a:spcAft>
                <a:spcPts val="400"/>
              </a:spcAft>
              <a:buNone/>
            </a:pPr>
            <a:r>
              <a:rPr lang="en-US" sz="1050" b="1" dirty="0">
                <a:solidFill>
                  <a:srgbClr val="1F3350"/>
                </a:solidFill>
              </a:rPr>
              <a:t>Fleet Steward</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witnessed</a:t>
            </a:r>
            <a:pPr indent="0" marL="0">
              <a:spcAft>
                <a:spcPts val="400"/>
              </a:spcAft>
              <a:buNone/>
            </a:pPr>
            <a:endParaRPr lang="en-US" sz="1000" dirty="0"/>
          </a:p>
          <a:p>
            <a:pPr indent="0" marL="0">
              <a:spcAft>
                <a:spcPts val="400"/>
              </a:spcAft>
              <a:buNone/>
            </a:pPr>
            <a:r>
              <a:rPr lang="en-US" sz="850" i="1" dirty="0">
                <a:solidFill>
                  <a:srgbClr val="546881"/>
                </a:solidFill>
              </a:rPr>
              <a:t>Accountability for school-funded gear.</a:t>
            </a:r>
            <a:endParaRPr lang="en-US" sz="1000" dirty="0"/>
          </a:p>
          <a:p>
            <a:pPr indent="0" marL="0">
              <a:spcAft>
                <a:spcPts val="400"/>
              </a:spcAft>
              <a:buNone/>
            </a:pPr>
            <a:r>
              <a:rPr lang="en-US" sz="1050" b="1" dirty="0">
                <a:solidFill>
                  <a:srgbClr val="1F3350"/>
                </a:solidFill>
              </a:rPr>
              <a:t>Mentor</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witnessed</a:t>
            </a:r>
            <a:pPr indent="0" marL="0">
              <a:spcAft>
                <a:spcPts val="400"/>
              </a:spcAft>
              <a:buNone/>
            </a:pPr>
            <a:endParaRPr lang="en-US" sz="1000" dirty="0"/>
          </a:p>
          <a:p>
            <a:pPr indent="0" marL="0">
              <a:spcAft>
                <a:spcPts val="400"/>
              </a:spcAft>
              <a:buNone/>
            </a:pPr>
            <a:r>
              <a:rPr lang="en-US" sz="850" i="1" dirty="0">
                <a:solidFill>
                  <a:srgbClr val="546881"/>
                </a:solidFill>
              </a:rPr>
              <a:t>The program trains its own replacements.</a:t>
            </a:r>
            <a:endParaRPr lang="en-US" sz="1000" dirty="0"/>
          </a:p>
          <a:p>
            <a:pPr indent="0" marL="0">
              <a:spcAft>
                <a:spcPts val="400"/>
              </a:spcAft>
              <a:buNone/>
            </a:pPr>
            <a:r>
              <a:rPr lang="en-US" sz="1050" b="1" dirty="0">
                <a:solidFill>
                  <a:srgbClr val="1F3350"/>
                </a:solidFill>
              </a:rPr>
              <a:t>Examiner</a:t>
            </a:r>
            <a:pPr indent="0" marL="0">
              <a:spcAft>
                <a:spcPts val="400"/>
              </a:spcAft>
              <a:buNone/>
            </a:pPr>
            <a:r>
              <a:rPr lang="en-US" sz="800" dirty="0">
                <a:solidFill>
                  <a:srgbClr val="546881"/>
                </a:solidFill>
                <a:latin typeface="Courier New" pitchFamily="34" charset="0"/>
                <a:ea typeface="Courier New" pitchFamily="34" charset="-122"/>
                <a:cs typeface="Courier New" pitchFamily="34" charset="-120"/>
              </a:rPr>
              <a:t>  EL · witnessed</a:t>
            </a:r>
            <a:pPr indent="0" marL="0">
              <a:spcAft>
                <a:spcPts val="400"/>
              </a:spcAft>
              <a:buNone/>
            </a:pPr>
            <a:endParaRPr lang="en-US" sz="1000" dirty="0"/>
          </a:p>
          <a:p>
            <a:pPr indent="0" marL="0">
              <a:spcAft>
                <a:spcPts val="400"/>
              </a:spcAft>
              <a:buNone/>
            </a:pPr>
            <a:r>
              <a:rPr lang="en-US" sz="850" i="1" dirty="0">
                <a:solidFill>
                  <a:srgbClr val="546881"/>
                </a:solidFill>
              </a:rPr>
              <a:t>Defines who can sign badges off.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05 · HOW A BADGE IS EARNED</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Demonstration, not attendance.</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6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Quiz badges: </a:t>
            </a:r>
            <a:pPr indent="0" marL="0">
              <a:spcAft>
                <a:spcPts val="700"/>
              </a:spcAft>
              <a:buNone/>
            </a:pPr>
            <a:r>
              <a:rPr lang="en-US" sz="1300" dirty="0">
                <a:solidFill>
                  <a:srgbClr val="1F3350"/>
                </a:solidFill>
              </a:rPr>
              <a:t>short lessons, then a 10-question quiz. 80% passes, retake any time, the kiosk awards it by itself.</a:t>
            </a:r>
            <a:endParaRPr lang="en-US" sz="1300" dirty="0"/>
          </a:p>
          <a:p>
            <a:pPr marL="342900" indent="-342900">
              <a:spcAft>
                <a:spcPts val="700"/>
              </a:spcAft>
              <a:buSzPct val="100000"/>
              <a:buChar char="○"/>
            </a:pPr>
            <a:r>
              <a:rPr lang="en-US" sz="1300" b="1" dirty="0">
                <a:solidFill>
                  <a:srgbClr val="1F3350"/>
                </a:solidFill>
              </a:rPr>
              <a:t>Bench badges: </a:t>
            </a:r>
            <a:pPr indent="0" marL="0">
              <a:spcAft>
                <a:spcPts val="700"/>
              </a:spcAft>
              <a:buNone/>
            </a:pPr>
            <a:r>
              <a:rPr lang="en-US" sz="1300" dirty="0">
                <a:solidFill>
                  <a:srgbClr val="1F3350"/>
                </a:solidFill>
              </a:rPr>
              <a:t>a step-by-step checklist on the kiosk, a photo of the work, an instructor approves.</a:t>
            </a:r>
            <a:endParaRPr lang="en-US" sz="1300" dirty="0"/>
          </a:p>
          <a:p>
            <a:pPr marL="342900" indent="-342900">
              <a:spcAft>
                <a:spcPts val="700"/>
              </a:spcAft>
              <a:buSzPct val="100000"/>
              <a:buChar char="○"/>
            </a:pPr>
            <a:r>
              <a:rPr lang="en-US" sz="1300" b="1" dirty="0">
                <a:solidFill>
                  <a:srgbClr val="1F3350"/>
                </a:solidFill>
              </a:rPr>
              <a:t>Witnessed badges: </a:t>
            </a:r>
            <a:pPr indent="0" marL="0">
              <a:spcAft>
                <a:spcPts val="700"/>
              </a:spcAft>
              <a:buNone/>
            </a:pPr>
            <a:r>
              <a:rPr lang="en-US" sz="1300" dirty="0">
                <a:solidFill>
                  <a:srgbClr val="1F3350"/>
                </a:solidFill>
              </a:rPr>
              <a:t>an examiner watches you perform the standard written on the card.</a:t>
            </a:r>
            <a:endParaRPr lang="en-US" sz="1300" dirty="0"/>
          </a:p>
          <a:p>
            <a:pPr marL="342900" indent="-342900">
              <a:spcAft>
                <a:spcPts val="700"/>
              </a:spcAft>
              <a:buSzPct val="100000"/>
              <a:buChar char="○"/>
            </a:pPr>
            <a:r>
              <a:rPr lang="en-US" sz="1300" b="1" dirty="0">
                <a:solidFill>
                  <a:srgbClr val="1F3350"/>
                </a:solidFill>
              </a:rPr>
              <a:t>Official: </a:t>
            </a:r>
            <a:pPr indent="0" marL="0">
              <a:spcAft>
                <a:spcPts val="700"/>
              </a:spcAft>
              <a:buNone/>
            </a:pPr>
            <a:r>
              <a:rPr lang="en-US" sz="1300" dirty="0">
                <a:solidFill>
                  <a:srgbClr val="1F3350"/>
                </a:solidFill>
              </a:rPr>
              <a:t>the free FAA TRUST certificate before anyone touches a real drone.</a:t>
            </a:r>
            <a:endParaRPr lang="en-US" sz="1300" dirty="0"/>
          </a:p>
          <a:p>
            <a:pPr marL="342900" indent="-342900">
              <a:spcAft>
                <a:spcPts val="700"/>
              </a:spcAft>
              <a:buSzPct val="100000"/>
              <a:buChar char="○"/>
            </a:pPr>
            <a:r>
              <a:rPr lang="en-US" sz="1300" b="1" dirty="0">
                <a:solidFill>
                  <a:srgbClr val="1F3350"/>
                </a:solidFill>
              </a:rPr>
              <a:t>Students run every sign-off. </a:t>
            </a:r>
            <a:pPr indent="0" marL="0">
              <a:spcAft>
                <a:spcPts val="700"/>
              </a:spcAft>
              <a:buNone/>
            </a:pPr>
            <a:r>
              <a:rPr lang="en-US" sz="1300" dirty="0">
                <a:solidFill>
                  <a:srgbClr val="1F3350"/>
                </a:solidFill>
              </a:rPr>
              <a:t>Nothing here costs the school anything beyond the training fleet.</a:t>
            </a:r>
            <a:endParaRPr lang="en-US" sz="1300" dirty="0"/>
          </a:p>
        </p:txBody>
      </p:sp>
      <p:sp>
        <p:nvSpPr>
          <p:cNvPr id="8" name="Shape 5"/>
          <p:cNvSpPr/>
          <p:nvPr/>
        </p:nvSpPr>
        <p:spPr>
          <a:xfrm>
            <a:off x="4937760" y="1325880"/>
            <a:ext cx="3749040" cy="3346704"/>
          </a:xfrm>
          <a:prstGeom prst="roundRect">
            <a:avLst>
              <a:gd name="adj" fmla="val 1639"/>
            </a:avLst>
          </a:prstGeom>
          <a:solidFill>
            <a:srgbClr val="FFFFFF"/>
          </a:solidFill>
          <a:ln w="9525">
            <a:solidFill>
              <a:srgbClr val="8A94A3"/>
            </a:solidFill>
            <a:prstDash val="solid"/>
          </a:ln>
        </p:spPr>
      </p:sp>
      <p:sp>
        <p:nvSpPr>
          <p:cNvPr id="9" name="Shape 6"/>
          <p:cNvSpPr/>
          <p:nvPr/>
        </p:nvSpPr>
        <p:spPr>
          <a:xfrm>
            <a:off x="4946904" y="1335024"/>
            <a:ext cx="3730752" cy="219456"/>
          </a:xfrm>
          <a:prstGeom prst="rect">
            <a:avLst/>
          </a:prstGeom>
          <a:solidFill>
            <a:srgbClr val="E9E3D6"/>
          </a:solidFill>
          <a:ln w="12700">
            <a:solidFill>
              <a:srgbClr val="E9E3D6"/>
            </a:solidFill>
            <a:prstDash val="solid"/>
          </a:ln>
        </p:spPr>
      </p:sp>
      <p:sp>
        <p:nvSpPr>
          <p:cNvPr id="10" name="Text 7"/>
          <p:cNvSpPr txBox="1"/>
          <p:nvPr/>
        </p:nvSpPr>
        <p:spPr>
          <a:xfrm>
            <a:off x="5047488" y="133502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…/brophy-uav-dashboard/flightschool/</a:t>
            </a:r>
            <a:endParaRPr lang="en-US" sz="750" dirty="0"/>
          </a:p>
        </p:txBody>
      </p:sp>
      <p:pic>
        <p:nvPicPr>
          <p:cNvPr id="11" name="Image 0" descr="/private/tmp/claude-503/-Users-user-Documents-Workspace/77a334b4-d7cc-49da-a5bd-6abd8d6b9366/scratchpad/slides/img/web-flightschool.jpg">    </p:cNvPr>
          <p:cNvPicPr>
            <a:picLocks noChangeAspect="1"/>
          </p:cNvPicPr>
          <p:nvPr/>
        </p:nvPicPr>
        <p:blipFill>
          <a:blip r:embed="rId1"/>
          <a:srcRect l="0" r="0" t="0" b="0"/>
          <a:stretch/>
        </p:blipFill>
        <p:spPr>
          <a:xfrm>
            <a:off x="4974336" y="1581912"/>
            <a:ext cx="3675888" cy="30540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06 · TEACHING</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The classroom is already built.</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7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45 lessons, about 140 minutes, </a:t>
            </a:r>
            <a:pPr indent="0" marL="0">
              <a:spcAft>
                <a:spcPts val="700"/>
              </a:spcAft>
              <a:buNone/>
            </a:pPr>
            <a:r>
              <a:rPr lang="en-US" sz="1300" dirty="0">
                <a:solidFill>
                  <a:srgbClr val="1F3350"/>
                </a:solidFill>
              </a:rPr>
              <a:t>one module per knowledge badge: safety, batteries, electronics, radio, airspace, emergencies, event ops.</a:t>
            </a:r>
            <a:endParaRPr lang="en-US" sz="1300" dirty="0"/>
          </a:p>
          <a:p>
            <a:pPr marL="342900" indent="-342900">
              <a:spcAft>
                <a:spcPts val="700"/>
              </a:spcAft>
              <a:buSzPct val="100000"/>
              <a:buChar char="○"/>
            </a:pPr>
            <a:r>
              <a:rPr lang="en-US" sz="1300" b="1" dirty="0">
                <a:solidFill>
                  <a:srgbClr val="1F3350"/>
                </a:solidFill>
              </a:rPr>
              <a:t>Works on the kiosk and on any phone. </a:t>
            </a:r>
            <a:pPr indent="0" marL="0">
              <a:spcAft>
                <a:spcPts val="700"/>
              </a:spcAft>
              <a:buNone/>
            </a:pPr>
            <a:r>
              <a:rPr lang="en-US" sz="1300" dirty="0">
                <a:solidFill>
                  <a:srgbClr val="1F3350"/>
                </a:solidFill>
              </a:rPr>
              <a:t>Lessons, drills and quizzes; progress follows the pilot.</a:t>
            </a:r>
            <a:endParaRPr lang="en-US" sz="1300" dirty="0"/>
          </a:p>
          <a:p>
            <a:pPr marL="342900" indent="-342900">
              <a:spcAft>
                <a:spcPts val="700"/>
              </a:spcAft>
              <a:buSzPct val="100000"/>
              <a:buChar char="○"/>
            </a:pPr>
            <a:r>
              <a:rPr lang="en-US" sz="1300" b="1" dirty="0">
                <a:solidFill>
                  <a:srgbClr val="1F3350"/>
                </a:solidFill>
              </a:rPr>
              <a:t>Stick drills on the real transmitter: </a:t>
            </a:r>
            <a:pPr indent="0" marL="0">
              <a:spcAft>
                <a:spcPts val="700"/>
              </a:spcAft>
              <a:buNone/>
            </a:pPr>
            <a:r>
              <a:rPr lang="en-US" sz="1300" dirty="0">
                <a:solidFill>
                  <a:srgbClr val="1F3350"/>
                </a:solidFill>
              </a:rPr>
              <a:t>hover trainer, orientation recovery, the first flip and roll.</a:t>
            </a:r>
            <a:endParaRPr lang="en-US" sz="1300" dirty="0"/>
          </a:p>
          <a:p>
            <a:pPr marL="342900" indent="-342900">
              <a:spcAft>
                <a:spcPts val="700"/>
              </a:spcAft>
              <a:buSzPct val="100000"/>
              <a:buChar char="○"/>
            </a:pPr>
            <a:r>
              <a:rPr lang="en-US" sz="1300" b="1" dirty="0">
                <a:solidFill>
                  <a:srgbClr val="1F3350"/>
                </a:solidFill>
              </a:rPr>
              <a:t>Written by students, maintained by students. </a:t>
            </a:r>
            <a:pPr indent="0" marL="0">
              <a:spcAft>
                <a:spcPts val="700"/>
              </a:spcAft>
              <a:buNone/>
            </a:pPr>
            <a:r>
              <a:rPr lang="en-US" sz="1300" dirty="0">
                <a:solidFill>
                  <a:srgbClr val="1F3350"/>
                </a:solidFill>
              </a:rPr>
              <a:t>A new member has something to do on day one, with or without a free seat.</a:t>
            </a:r>
            <a:endParaRPr lang="en-US" sz="1300" dirty="0"/>
          </a:p>
        </p:txBody>
      </p:sp>
      <p:sp>
        <p:nvSpPr>
          <p:cNvPr id="8" name="Shape 5"/>
          <p:cNvSpPr/>
          <p:nvPr/>
        </p:nvSpPr>
        <p:spPr>
          <a:xfrm>
            <a:off x="4937760" y="1325880"/>
            <a:ext cx="3749040" cy="2157984"/>
          </a:xfrm>
          <a:prstGeom prst="roundRect">
            <a:avLst>
              <a:gd name="adj" fmla="val 2542"/>
            </a:avLst>
          </a:prstGeom>
          <a:solidFill>
            <a:srgbClr val="FFFFFF"/>
          </a:solidFill>
          <a:ln w="9525">
            <a:solidFill>
              <a:srgbClr val="8A94A3"/>
            </a:solidFill>
            <a:prstDash val="solid"/>
          </a:ln>
        </p:spPr>
      </p:sp>
      <p:sp>
        <p:nvSpPr>
          <p:cNvPr id="9" name="Shape 6"/>
          <p:cNvSpPr/>
          <p:nvPr/>
        </p:nvSpPr>
        <p:spPr>
          <a:xfrm>
            <a:off x="4946904" y="1335024"/>
            <a:ext cx="3730752" cy="219456"/>
          </a:xfrm>
          <a:prstGeom prst="rect">
            <a:avLst/>
          </a:prstGeom>
          <a:solidFill>
            <a:srgbClr val="E9E3D6"/>
          </a:solidFill>
          <a:ln w="12700">
            <a:solidFill>
              <a:srgbClr val="E9E3D6"/>
            </a:solidFill>
            <a:prstDash val="solid"/>
          </a:ln>
        </p:spPr>
      </p:sp>
      <p:sp>
        <p:nvSpPr>
          <p:cNvPr id="10" name="Text 7"/>
          <p:cNvSpPr txBox="1"/>
          <p:nvPr/>
        </p:nvSpPr>
        <p:spPr>
          <a:xfrm>
            <a:off x="5047488" y="133502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…/brophy-uav-dashboard/groundschool/</a:t>
            </a:r>
            <a:endParaRPr lang="en-US" sz="750" dirty="0"/>
          </a:p>
        </p:txBody>
      </p:sp>
      <p:pic>
        <p:nvPicPr>
          <p:cNvPr id="11" name="Image 0" descr="/private/tmp/claude-503/-Users-user-Documents-Workspace/77a334b4-d7cc-49da-a5bd-6abd8d6b9366/scratchpad/slides/img/web-groundschool.jpg">    </p:cNvPr>
          <p:cNvPicPr>
            <a:picLocks noChangeAspect="1"/>
          </p:cNvPicPr>
          <p:nvPr/>
        </p:nvPicPr>
        <p:blipFill>
          <a:blip r:embed="rId1"/>
          <a:srcRect l="0" r="0" t="0" b="0"/>
          <a:stretch/>
        </p:blipFill>
        <p:spPr>
          <a:xfrm>
            <a:off x="4974336" y="1581912"/>
            <a:ext cx="3675888" cy="1865376"/>
          </a:xfrm>
          <a:prstGeom prst="rect">
            <a:avLst/>
          </a:prstGeom>
        </p:spPr>
      </p:pic>
      <p:sp>
        <p:nvSpPr>
          <p:cNvPr id="12" name="Shape 8"/>
          <p:cNvSpPr/>
          <p:nvPr/>
        </p:nvSpPr>
        <p:spPr>
          <a:xfrm>
            <a:off x="4937760" y="3429000"/>
            <a:ext cx="3749040" cy="1197864"/>
          </a:xfrm>
          <a:prstGeom prst="roundRect">
            <a:avLst>
              <a:gd name="adj" fmla="val 4580"/>
            </a:avLst>
          </a:prstGeom>
          <a:solidFill>
            <a:srgbClr val="FFFFFF"/>
          </a:solidFill>
          <a:ln w="9525">
            <a:solidFill>
              <a:srgbClr val="8A94A3"/>
            </a:solidFill>
            <a:prstDash val="solid"/>
          </a:ln>
        </p:spPr>
      </p:sp>
      <p:sp>
        <p:nvSpPr>
          <p:cNvPr id="13" name="Shape 9"/>
          <p:cNvSpPr/>
          <p:nvPr/>
        </p:nvSpPr>
        <p:spPr>
          <a:xfrm>
            <a:off x="4946904" y="3438144"/>
            <a:ext cx="3730752" cy="219456"/>
          </a:xfrm>
          <a:prstGeom prst="rect">
            <a:avLst/>
          </a:prstGeom>
          <a:solidFill>
            <a:srgbClr val="E9E3D6"/>
          </a:solidFill>
          <a:ln w="12700">
            <a:solidFill>
              <a:srgbClr val="E9E3D6"/>
            </a:solidFill>
            <a:prstDash val="solid"/>
          </a:ln>
        </p:spPr>
      </p:sp>
      <p:sp>
        <p:nvSpPr>
          <p:cNvPr id="14" name="Text 10"/>
          <p:cNvSpPr txBox="1"/>
          <p:nvPr/>
        </p:nvSpPr>
        <p:spPr>
          <a:xfrm>
            <a:off x="5047488" y="343814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kiosk · a lesson open</a:t>
            </a:r>
            <a:endParaRPr lang="en-US" sz="750" dirty="0"/>
          </a:p>
        </p:txBody>
      </p:sp>
      <p:pic>
        <p:nvPicPr>
          <p:cNvPr id="15" name="Image 1" descr="/private/tmp/claude-503/-Users-user-Documents-Workspace/77a334b4-d7cc-49da-a5bd-6abd8d6b9366/scratchpad/slides/img/kiosk-lesson.png">    </p:cNvPr>
          <p:cNvPicPr>
            <a:picLocks noChangeAspect="1"/>
          </p:cNvPicPr>
          <p:nvPr/>
        </p:nvPicPr>
        <p:blipFill>
          <a:blip r:embed="rId2"/>
          <a:srcRect l="0" r="0" t="0" b="0"/>
          <a:stretch/>
        </p:blipFill>
        <p:spPr>
          <a:xfrm>
            <a:off x="4974336" y="3685032"/>
            <a:ext cx="3675888" cy="9052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07 · WHY SIM FIRST</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Crashes should cost nothing while you learn.</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8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7.5 hours in the simulator </a:t>
            </a:r>
            <a:pPr indent="0" marL="0">
              <a:spcAft>
                <a:spcPts val="700"/>
              </a:spcAft>
              <a:buNone/>
            </a:pPr>
            <a:r>
              <a:rPr lang="en-US" sz="1300" dirty="0">
                <a:solidFill>
                  <a:srgbClr val="1F3350"/>
                </a:solidFill>
              </a:rPr>
              <a:t>before the first real flight. Acro muscle memory with zero risk.</a:t>
            </a:r>
            <a:endParaRPr lang="en-US" sz="1300" dirty="0"/>
          </a:p>
          <a:p>
            <a:pPr marL="342900" indent="-342900">
              <a:spcAft>
                <a:spcPts val="700"/>
              </a:spcAft>
              <a:buSzPct val="100000"/>
              <a:buChar char="○"/>
            </a:pPr>
            <a:r>
              <a:rPr lang="en-US" sz="1300" b="1" dirty="0">
                <a:solidFill>
                  <a:srgbClr val="1F3350"/>
                </a:solidFill>
              </a:rPr>
              <a:t>Proficient Flight is sim-only on purpose: </a:t>
            </a:r>
            <a:pPr indent="0" marL="0">
              <a:spcAft>
                <a:spcPts val="700"/>
              </a:spcAft>
              <a:buNone/>
            </a:pPr>
            <a:r>
              <a:rPr lang="en-US" sz="1300" dirty="0">
                <a:solidFill>
                  <a:srgbClr val="1F3350"/>
                </a:solidFill>
              </a:rPr>
              <a:t>orbit, Split-S, gaps, a finished race. It gates the first real battery.</a:t>
            </a:r>
            <a:endParaRPr lang="en-US" sz="1300" dirty="0"/>
          </a:p>
          <a:p>
            <a:pPr marL="342900" indent="-342900">
              <a:spcAft>
                <a:spcPts val="700"/>
              </a:spcAft>
              <a:buSzPct val="100000"/>
              <a:buChar char="○"/>
            </a:pPr>
            <a:r>
              <a:rPr lang="en-US" sz="1300" b="1" dirty="0">
                <a:solidFill>
                  <a:srgbClr val="1F3350"/>
                </a:solidFill>
              </a:rPr>
              <a:t>Line of Sight: </a:t>
            </a:r>
            <a:pPr indent="0" marL="0">
              <a:spcAft>
                <a:spcPts val="700"/>
              </a:spcAft>
              <a:buNone/>
            </a:pPr>
            <a:r>
              <a:rPr lang="en-US" sz="1300" dirty="0">
                <a:solidFill>
                  <a:srgbClr val="1F3350"/>
                </a:solidFill>
              </a:rPr>
              <a:t>if the video cuts out, the pilot can still level out and land.</a:t>
            </a:r>
            <a:endParaRPr lang="en-US" sz="1300" dirty="0"/>
          </a:p>
          <a:p>
            <a:pPr marL="342900" indent="-342900">
              <a:spcAft>
                <a:spcPts val="700"/>
              </a:spcAft>
              <a:buSzPct val="100000"/>
              <a:buChar char="○"/>
            </a:pPr>
            <a:r>
              <a:rPr lang="en-US" sz="1300" b="1" dirty="0">
                <a:solidFill>
                  <a:srgbClr val="1F3350"/>
                </a:solidFill>
              </a:rPr>
              <a:t>Then a sub-250 g whoop that can’t do much damage. </a:t>
            </a:r>
            <a:pPr indent="0" marL="0">
              <a:spcAft>
                <a:spcPts val="700"/>
              </a:spcAft>
              <a:buNone/>
            </a:pPr>
            <a:r>
              <a:rPr lang="en-US" sz="1300" dirty="0">
                <a:solidFill>
                  <a:srgbClr val="1F3350"/>
                </a:solidFill>
              </a:rPr>
              <a:t>Full-size only after Freestyle, Electrical Components, Radio Protocol and Field Repair.</a:t>
            </a:r>
            <a:endParaRPr lang="en-US" sz="1300" dirty="0"/>
          </a:p>
          <a:p>
            <a:pPr marL="342900" indent="-342900">
              <a:spcAft>
                <a:spcPts val="700"/>
              </a:spcAft>
              <a:buSzPct val="100000"/>
              <a:buChar char="○"/>
            </a:pPr>
            <a:r>
              <a:rPr lang="en-US" sz="1300" b="1" dirty="0">
                <a:solidFill>
                  <a:srgbClr val="1F3350"/>
                </a:solidFill>
              </a:rPr>
              <a:t>Every gate is placed </a:t>
            </a:r>
            <a:pPr indent="0" marL="0">
              <a:spcAft>
                <a:spcPts val="700"/>
              </a:spcAft>
              <a:buNone/>
            </a:pPr>
            <a:r>
              <a:rPr lang="en-US" sz="1300" dirty="0">
                <a:solidFill>
                  <a:srgbClr val="1F3350"/>
                </a:solidFill>
              </a:rPr>
              <a:t>where the next mistake starts to cost real money or real safety.</a:t>
            </a:r>
            <a:endParaRPr lang="en-US" sz="1300" dirty="0"/>
          </a:p>
        </p:txBody>
      </p:sp>
      <p:sp>
        <p:nvSpPr>
          <p:cNvPr id="8" name="Shape 5"/>
          <p:cNvSpPr/>
          <p:nvPr/>
        </p:nvSpPr>
        <p:spPr>
          <a:xfrm>
            <a:off x="4937760" y="1325880"/>
            <a:ext cx="2103120" cy="3346704"/>
          </a:xfrm>
          <a:prstGeom prst="roundRect">
            <a:avLst>
              <a:gd name="adj" fmla="val 2609"/>
            </a:avLst>
          </a:prstGeom>
          <a:solidFill>
            <a:srgbClr val="FFFFFF"/>
          </a:solidFill>
          <a:ln w="9525">
            <a:solidFill>
              <a:srgbClr val="8A94A3"/>
            </a:solidFill>
            <a:prstDash val="solid"/>
          </a:ln>
        </p:spPr>
      </p:sp>
      <p:sp>
        <p:nvSpPr>
          <p:cNvPr id="9" name="Shape 6"/>
          <p:cNvSpPr/>
          <p:nvPr/>
        </p:nvSpPr>
        <p:spPr>
          <a:xfrm>
            <a:off x="4946904" y="1335024"/>
            <a:ext cx="2084832" cy="219456"/>
          </a:xfrm>
          <a:prstGeom prst="rect">
            <a:avLst/>
          </a:prstGeom>
          <a:solidFill>
            <a:srgbClr val="E9E3D6"/>
          </a:solidFill>
          <a:ln w="12700">
            <a:solidFill>
              <a:srgbClr val="E9E3D6"/>
            </a:solidFill>
            <a:prstDash val="solid"/>
          </a:ln>
        </p:spPr>
      </p:sp>
      <p:sp>
        <p:nvSpPr>
          <p:cNvPr id="10" name="Text 7"/>
          <p:cNvSpPr txBox="1"/>
          <p:nvPr/>
        </p:nvSpPr>
        <p:spPr>
          <a:xfrm>
            <a:off x="5047488" y="1335024"/>
            <a:ext cx="188366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poster · Tier 0 trail map</a:t>
            </a:r>
            <a:endParaRPr lang="en-US" sz="750" dirty="0"/>
          </a:p>
        </p:txBody>
      </p:sp>
      <p:pic>
        <p:nvPicPr>
          <p:cNvPr id="11" name="Image 0" descr="/private/tmp/claude-503/-Users-user-Documents-Workspace/77a334b4-d7cc-49da-a5bd-6abd8d6b9366/scratchpad/slides/img/03-map-tier0.jpg">    </p:cNvPr>
          <p:cNvPicPr>
            <a:picLocks noChangeAspect="1"/>
          </p:cNvPicPr>
          <p:nvPr/>
        </p:nvPicPr>
        <p:blipFill>
          <a:blip r:embed="rId1"/>
          <a:srcRect l="0" r="0" t="0" b="0"/>
          <a:stretch/>
        </p:blipFill>
        <p:spPr>
          <a:xfrm>
            <a:off x="4974336" y="1581912"/>
            <a:ext cx="2029968" cy="3054096"/>
          </a:xfrm>
          <a:prstGeom prst="rect">
            <a:avLst/>
          </a:prstGeom>
        </p:spPr>
      </p:pic>
      <p:sp>
        <p:nvSpPr>
          <p:cNvPr id="12" name="Shape 8"/>
          <p:cNvSpPr/>
          <p:nvPr/>
        </p:nvSpPr>
        <p:spPr>
          <a:xfrm>
            <a:off x="7223760" y="1325880"/>
            <a:ext cx="1463040" cy="3346704"/>
          </a:xfrm>
          <a:prstGeom prst="roundRect">
            <a:avLst>
              <a:gd name="adj" fmla="val 3750"/>
            </a:avLst>
          </a:prstGeom>
          <a:solidFill>
            <a:srgbClr val="EDE7DA"/>
          </a:solidFill>
          <a:ln w="12700">
            <a:solidFill>
              <a:srgbClr val="546881"/>
            </a:solidFill>
            <a:prstDash val="dash"/>
          </a:ln>
        </p:spPr>
      </p:sp>
      <p:sp>
        <p:nvSpPr>
          <p:cNvPr id="13" name="Text 9"/>
          <p:cNvSpPr txBox="1"/>
          <p:nvPr/>
        </p:nvSpPr>
        <p:spPr>
          <a:xfrm>
            <a:off x="7223760" y="1325880"/>
            <a:ext cx="1463040" cy="3346704"/>
          </a:xfrm>
          <a:prstGeom prst="rect">
            <a:avLst/>
          </a:prstGeom>
          <a:noFill/>
          <a:ln/>
        </p:spPr>
        <p:txBody>
          <a:bodyPr wrap="square" lIns="1270" tIns="1270" rIns="1270" bIns="1270" rtlCol="0" anchor="ctr"/>
          <a:lstStyle/>
          <a:p>
            <a:pPr algn="ctr" indent="0" marL="0">
              <a:buNone/>
            </a:pPr>
            <a:r>
              <a:rPr lang="en-US" sz="750" spc="200" kern="0" dirty="0">
                <a:solidFill>
                  <a:srgbClr val="546881"/>
                </a:solidFill>
                <a:latin typeface="Courier New" pitchFamily="34" charset="0"/>
                <a:ea typeface="Courier New" pitchFamily="34" charset="-122"/>
                <a:cs typeface="Courier New" pitchFamily="34" charset="-120"/>
              </a:rPr>
              <a:t>PHOTO COMING FROM THE KIOSK
</a:t>
            </a:r>
            <a:pPr algn="ctr" indent="0" marL="0">
              <a:buNone/>
            </a:pPr>
            <a:r>
              <a:rPr lang="en-US" sz="1100" b="1" dirty="0">
                <a:solidFill>
                  <a:srgbClr val="1F3350"/>
                </a:solidFill>
              </a:rPr>
              <a:t>A pilot mid-flight in Liftoff
</a:t>
            </a:r>
            <a:pPr algn="ctr" indent="0" marL="0">
              <a:buNone/>
            </a:pPr>
            <a:r>
              <a:rPr lang="en-US" sz="700" dirty="0">
                <a:solidFill>
                  <a:srgbClr val="546881"/>
                </a:solidFill>
                <a:latin typeface="Courier New" pitchFamily="34" charset="0"/>
                <a:ea typeface="Courier New" pitchFamily="34" charset="-122"/>
                <a:cs typeface="Courier New" pitchFamily="34" charset="-120"/>
              </a:rPr>
              <a:t>kiosk/kiosk-liftoff.jpg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08 · SUSTAINABILITY</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Built to outlive its founders.</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9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500"/>
              </a:spcAft>
              <a:buSzPct val="100000"/>
              <a:buChar char="○"/>
            </a:pPr>
            <a:r>
              <a:rPr lang="en-US" sz="1200" b="1" dirty="0">
                <a:solidFill>
                  <a:srgbClr val="1F3350"/>
                </a:solidFill>
              </a:rPr>
              <a:t>Mentor badge: </a:t>
            </a:r>
            <a:pPr indent="0" marL="0">
              <a:spcAft>
                <a:spcPts val="500"/>
              </a:spcAft>
              <a:buNone/>
            </a:pPr>
            <a:r>
              <a:rPr lang="en-US" sz="1200" dirty="0">
                <a:solidFill>
                  <a:srgbClr val="1F3350"/>
                </a:solidFill>
              </a:rPr>
              <a:t>coach a new member through their first two badges. The program trains its own replacements.</a:t>
            </a:r>
            <a:endParaRPr lang="en-US" sz="1200" dirty="0"/>
          </a:p>
          <a:p>
            <a:pPr marL="342900" indent="-342900">
              <a:spcAft>
                <a:spcPts val="500"/>
              </a:spcAft>
              <a:buSzPct val="100000"/>
              <a:buChar char="○"/>
            </a:pPr>
            <a:r>
              <a:rPr lang="en-US" sz="1200" b="1" dirty="0">
                <a:solidFill>
                  <a:srgbClr val="1F3350"/>
                </a:solidFill>
              </a:rPr>
              <a:t>Examiner badge: </a:t>
            </a:r>
            <a:pPr indent="0" marL="0">
              <a:spcAft>
                <a:spcPts val="500"/>
              </a:spcAft>
              <a:buNone/>
            </a:pPr>
            <a:r>
              <a:rPr lang="en-US" sz="1200" dirty="0">
                <a:solidFill>
                  <a:srgbClr val="1F3350"/>
                </a:solidFill>
              </a:rPr>
              <a:t>who may sign off is defined by badges held plus officer approval, not by who is loudest.</a:t>
            </a:r>
            <a:endParaRPr lang="en-US" sz="1200" dirty="0"/>
          </a:p>
          <a:p>
            <a:pPr marL="342900" indent="-342900">
              <a:spcAft>
                <a:spcPts val="500"/>
              </a:spcAft>
              <a:buSzPct val="100000"/>
              <a:buChar char="○"/>
            </a:pPr>
            <a:r>
              <a:rPr lang="en-US" sz="1200" b="1" dirty="0">
                <a:solidFill>
                  <a:srgbClr val="1F3350"/>
                </a:solidFill>
              </a:rPr>
              <a:t>Fleet Steward: </a:t>
            </a:r>
            <a:pPr indent="0" marL="0">
              <a:spcAft>
                <a:spcPts val="500"/>
              </a:spcAft>
              <a:buNone/>
            </a:pPr>
            <a:r>
              <a:rPr lang="en-US" sz="1200" dirty="0">
                <a:solidFill>
                  <a:srgbClr val="1F3350"/>
                </a:solidFill>
              </a:rPr>
              <a:t>check-in/out and a maintenance log for school-funded gear, one semester at a time.</a:t>
            </a:r>
            <a:endParaRPr lang="en-US" sz="1200" dirty="0"/>
          </a:p>
          <a:p>
            <a:pPr marL="342900" indent="-342900">
              <a:spcAft>
                <a:spcPts val="500"/>
              </a:spcAft>
              <a:buSzPct val="100000"/>
              <a:buChar char="○"/>
            </a:pPr>
            <a:r>
              <a:rPr lang="en-US" sz="1200" b="1" dirty="0">
                <a:solidFill>
                  <a:srgbClr val="1F3350"/>
                </a:solidFill>
              </a:rPr>
              <a:t>Everything is written down: </a:t>
            </a:r>
            <a:pPr indent="0" marL="0">
              <a:spcAft>
                <a:spcPts val="500"/>
              </a:spcAft>
              <a:buNone/>
            </a:pPr>
            <a:r>
              <a:rPr lang="en-US" sz="1200" dirty="0">
                <a:solidFill>
                  <a:srgbClr val="1F3350"/>
                </a:solidFill>
              </a:rPr>
              <a:t>the safety rules, the badge sheet, seven printed posters, a website that runs itself.</a:t>
            </a:r>
            <a:endParaRPr lang="en-US" sz="1200" dirty="0"/>
          </a:p>
          <a:p>
            <a:pPr marL="342900" indent="-342900">
              <a:spcAft>
                <a:spcPts val="500"/>
              </a:spcAft>
              <a:buSzPct val="100000"/>
              <a:buChar char="○"/>
            </a:pPr>
            <a:r>
              <a:rPr lang="en-US" sz="1200" b="1" dirty="0">
                <a:solidFill>
                  <a:srgbClr val="1F3350"/>
                </a:solidFill>
              </a:rPr>
              <a:t>Every award is recorded and signed </a:t>
            </a:r>
            <a:pPr indent="0" marL="0">
              <a:spcAft>
                <a:spcPts val="500"/>
              </a:spcAft>
              <a:buNone/>
            </a:pPr>
            <a:r>
              <a:rPr lang="en-US" sz="1200" dirty="0">
                <a:solidFill>
                  <a:srgbClr val="1F3350"/>
                </a:solidFill>
              </a:rPr>
              <a:t>by the approving instructor, and progress only moves forward.</a:t>
            </a:r>
            <a:endParaRPr lang="en-US" sz="1200" dirty="0"/>
          </a:p>
          <a:p>
            <a:pPr marL="342900" indent="-342900">
              <a:spcAft>
                <a:spcPts val="500"/>
              </a:spcAft>
              <a:buSzPct val="100000"/>
              <a:buChar char="○"/>
            </a:pPr>
            <a:r>
              <a:rPr lang="en-US" sz="1200" b="1" dirty="0">
                <a:solidFill>
                  <a:srgbClr val="1F3350"/>
                </a:solidFill>
              </a:rPr>
              <a:t>Gear is bought to last: </a:t>
            </a:r>
            <a:pPr indent="0" marL="0">
              <a:spcAft>
                <a:spcPts val="500"/>
              </a:spcAft>
              <a:buNone/>
            </a:pPr>
            <a:r>
              <a:rPr lang="en-US" sz="1200" dirty="0">
                <a:solidFill>
                  <a:srgbClr val="1F3350"/>
                </a:solidFill>
              </a:rPr>
              <a:t>goggles and radios about 8 years, airframes about 4. A one-time build-out, not a recurring ask.</a:t>
            </a:r>
            <a:endParaRPr lang="en-US" sz="1200" dirty="0"/>
          </a:p>
        </p:txBody>
      </p:sp>
      <p:pic>
        <p:nvPicPr>
          <p:cNvPr id="8" name="Image 0" descr="/private/tmp/claude-503/-Users-user-Documents-Workspace/77a334b4-d7cc-49da-a5bd-6abd8d6b9366/scratchpad/slides/img/01-ad-sim.jpg">    </p:cNvPr>
          <p:cNvPicPr>
            <a:picLocks noChangeAspect="1"/>
          </p:cNvPicPr>
          <p:nvPr/>
        </p:nvPicPr>
        <p:blipFill>
          <a:blip r:embed="rId1"/>
          <a:srcRect l="0" r="0" t="0" b="0"/>
          <a:stretch/>
        </p:blipFill>
        <p:spPr>
          <a:xfrm>
            <a:off x="4937760" y="1325880"/>
            <a:ext cx="713232" cy="1097280"/>
          </a:xfrm>
          <a:prstGeom prst="rect">
            <a:avLst/>
          </a:prstGeom>
        </p:spPr>
      </p:pic>
      <p:pic>
        <p:nvPicPr>
          <p:cNvPr id="9" name="Image 1" descr="/private/tmp/claude-503/-Users-user-Documents-Workspace/77a334b4-d7cc-49da-a5bd-6abd8d6b9366/scratchpad/slides/img/02-ad-club.jpg">    </p:cNvPr>
          <p:cNvPicPr>
            <a:picLocks noChangeAspect="1"/>
          </p:cNvPicPr>
          <p:nvPr/>
        </p:nvPicPr>
        <p:blipFill>
          <a:blip r:embed="rId2"/>
          <a:srcRect l="0" r="0" t="0" b="0"/>
          <a:stretch/>
        </p:blipFill>
        <p:spPr>
          <a:xfrm>
            <a:off x="5705856" y="1325880"/>
            <a:ext cx="713232" cy="1097280"/>
          </a:xfrm>
          <a:prstGeom prst="rect">
            <a:avLst/>
          </a:prstGeom>
        </p:spPr>
      </p:pic>
      <p:pic>
        <p:nvPicPr>
          <p:cNvPr id="10" name="Image 2" descr="/private/tmp/claude-503/-Users-user-Documents-Workspace/77a334b4-d7cc-49da-a5bd-6abd8d6b9366/scratchpad/slides/img/04-map-tier1.jpg">    </p:cNvPr>
          <p:cNvPicPr>
            <a:picLocks noChangeAspect="1"/>
          </p:cNvPicPr>
          <p:nvPr/>
        </p:nvPicPr>
        <p:blipFill>
          <a:blip r:embed="rId3"/>
          <a:srcRect l="0" r="0" t="0" b="0"/>
          <a:stretch/>
        </p:blipFill>
        <p:spPr>
          <a:xfrm>
            <a:off x="6473952" y="1325880"/>
            <a:ext cx="713232" cy="1097280"/>
          </a:xfrm>
          <a:prstGeom prst="rect">
            <a:avLst/>
          </a:prstGeom>
        </p:spPr>
      </p:pic>
      <p:pic>
        <p:nvPicPr>
          <p:cNvPr id="11" name="Image 3" descr="/private/tmp/claude-503/-Users-user-Documents-Workspace/77a334b4-d7cc-49da-a5bd-6abd8d6b9366/scratchpad/slides/img/05-map-tier2.jpg">    </p:cNvPr>
          <p:cNvPicPr>
            <a:picLocks noChangeAspect="1"/>
          </p:cNvPicPr>
          <p:nvPr/>
        </p:nvPicPr>
        <p:blipFill>
          <a:blip r:embed="rId4"/>
          <a:srcRect l="0" r="0" t="0" b="0"/>
          <a:stretch/>
        </p:blipFill>
        <p:spPr>
          <a:xfrm>
            <a:off x="7242048" y="1325880"/>
            <a:ext cx="713232" cy="1097280"/>
          </a:xfrm>
          <a:prstGeom prst="rect">
            <a:avLst/>
          </a:prstGeom>
        </p:spPr>
      </p:pic>
      <p:pic>
        <p:nvPicPr>
          <p:cNvPr id="12" name="Image 4" descr="/private/tmp/claude-503/-Users-user-Documents-Workspace/77a334b4-d7cc-49da-a5bd-6abd8d6b9366/scratchpad/slides/img/06-map-tier3.jpg">    </p:cNvPr>
          <p:cNvPicPr>
            <a:picLocks noChangeAspect="1"/>
          </p:cNvPicPr>
          <p:nvPr/>
        </p:nvPicPr>
        <p:blipFill>
          <a:blip r:embed="rId5"/>
          <a:srcRect l="0" r="0" t="0" b="0"/>
          <a:stretch/>
        </p:blipFill>
        <p:spPr>
          <a:xfrm>
            <a:off x="8010144" y="1325880"/>
            <a:ext cx="713232" cy="1097280"/>
          </a:xfrm>
          <a:prstGeom prst="rect">
            <a:avLst/>
          </a:prstGeom>
        </p:spPr>
      </p:pic>
      <p:sp>
        <p:nvSpPr>
          <p:cNvPr id="13" name="Shape 5"/>
          <p:cNvSpPr/>
          <p:nvPr/>
        </p:nvSpPr>
        <p:spPr>
          <a:xfrm>
            <a:off x="4937760" y="2606040"/>
            <a:ext cx="3749040" cy="2011680"/>
          </a:xfrm>
          <a:prstGeom prst="roundRect">
            <a:avLst>
              <a:gd name="adj" fmla="val 2727"/>
            </a:avLst>
          </a:prstGeom>
          <a:solidFill>
            <a:srgbClr val="EDE7DA"/>
          </a:solidFill>
          <a:ln w="12700">
            <a:solidFill>
              <a:srgbClr val="546881"/>
            </a:solidFill>
            <a:prstDash val="dash"/>
          </a:ln>
        </p:spPr>
      </p:sp>
      <p:sp>
        <p:nvSpPr>
          <p:cNvPr id="14" name="Text 6"/>
          <p:cNvSpPr txBox="1"/>
          <p:nvPr/>
        </p:nvSpPr>
        <p:spPr>
          <a:xfrm>
            <a:off x="4937760" y="2606040"/>
            <a:ext cx="3749040" cy="2011680"/>
          </a:xfrm>
          <a:prstGeom prst="rect">
            <a:avLst/>
          </a:prstGeom>
          <a:noFill/>
          <a:ln/>
        </p:spPr>
        <p:txBody>
          <a:bodyPr wrap="square" lIns="1270" tIns="1270" rIns="1270" bIns="1270" rtlCol="0" anchor="ctr"/>
          <a:lstStyle/>
          <a:p>
            <a:pPr algn="ctr" indent="0" marL="0">
              <a:buNone/>
            </a:pPr>
            <a:r>
              <a:rPr lang="en-US" sz="750" spc="200" kern="0" dirty="0">
                <a:solidFill>
                  <a:srgbClr val="546881"/>
                </a:solidFill>
                <a:latin typeface="Courier New" pitchFamily="34" charset="0"/>
                <a:ea typeface="Courier New" pitchFamily="34" charset="-122"/>
                <a:cs typeface="Courier New" pitchFamily="34" charset="-120"/>
              </a:rPr>
              <a:t>PHOTO COMING FROM THE KIOSK
</a:t>
            </a:r>
            <a:pPr algn="ctr" indent="0" marL="0">
              <a:buNone/>
            </a:pPr>
            <a:r>
              <a:rPr lang="en-US" sz="1100" b="1" dirty="0">
                <a:solidFill>
                  <a:srgbClr val="1F3350"/>
                </a:solidFill>
              </a:rPr>
              <a:t>The printed posters above the simulators
</a:t>
            </a:r>
            <a:pPr algn="ctr" indent="0" marL="0">
              <a:buNone/>
            </a:pPr>
            <a:r>
              <a:rPr lang="en-US" sz="700" dirty="0">
                <a:solidFill>
                  <a:srgbClr val="546881"/>
                </a:solidFill>
                <a:latin typeface="Courier New" pitchFamily="34" charset="0"/>
                <a:ea typeface="Courier New" pitchFamily="34" charset="-122"/>
                <a:cs typeface="Courier New" pitchFamily="34" charset="-120"/>
              </a:rPr>
              <a:t>photos/posters-wall.jpg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09 · FOR THE STUDENTS</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What a student walks away with.</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10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Hands: </a:t>
            </a:r>
            <a:pPr indent="0" marL="0">
              <a:spcAft>
                <a:spcPts val="700"/>
              </a:spcAft>
              <a:buNone/>
            </a:pPr>
            <a:r>
              <a:rPr lang="en-US" sz="1300" dirty="0">
                <a:solidFill>
                  <a:srgbClr val="1F3350"/>
                </a:solidFill>
              </a:rPr>
              <a:t>soldering, electronics, firmware, field repair. Skills that transfer straight to robotics and engineering.</a:t>
            </a:r>
            <a:endParaRPr lang="en-US" sz="1300" dirty="0"/>
          </a:p>
          <a:p>
            <a:pPr marL="342900" indent="-342900">
              <a:spcAft>
                <a:spcPts val="700"/>
              </a:spcAft>
              <a:buSzPct val="100000"/>
              <a:buChar char="○"/>
            </a:pPr>
            <a:r>
              <a:rPr lang="en-US" sz="1300" b="1" dirty="0">
                <a:solidFill>
                  <a:srgbClr val="1F3350"/>
                </a:solidFill>
              </a:rPr>
              <a:t>Judgment: </a:t>
            </a:r>
            <a:pPr indent="0" marL="0">
              <a:spcAft>
                <a:spcPts val="700"/>
              </a:spcAft>
              <a:buNone/>
            </a:pPr>
            <a:r>
              <a:rPr lang="en-US" sz="1300" dirty="0">
                <a:solidFill>
                  <a:srgbClr val="1F3350"/>
                </a:solidFill>
              </a:rPr>
              <a:t>airspace law near Sky Harbor, FAA TRUST, emergency procedures, battery safety. Responsibility, not just reflexes.</a:t>
            </a:r>
            <a:endParaRPr lang="en-US" sz="1300" dirty="0"/>
          </a:p>
          <a:p>
            <a:pPr marL="342900" indent="-342900">
              <a:spcAft>
                <a:spcPts val="700"/>
              </a:spcAft>
              <a:buSzPct val="100000"/>
              <a:buChar char="○"/>
            </a:pPr>
            <a:r>
              <a:rPr lang="en-US" sz="1300" b="1" dirty="0">
                <a:solidFill>
                  <a:srgbClr val="1F3350"/>
                </a:solidFill>
              </a:rPr>
              <a:t>Professionalism: </a:t>
            </a:r>
            <a:pPr indent="0" marL="0">
              <a:spcAft>
                <a:spcPts val="700"/>
              </a:spcAft>
              <a:buNone/>
            </a:pPr>
            <a:r>
              <a:rPr lang="en-US" sz="1300" dirty="0">
                <a:solidFill>
                  <a:srgbClr val="1F3350"/>
                </a:solidFill>
              </a:rPr>
              <a:t>writing a shot list with a coach, briefing bystanders, running a flight zone at a game.</a:t>
            </a:r>
            <a:endParaRPr lang="en-US" sz="1300" dirty="0"/>
          </a:p>
          <a:p>
            <a:pPr marL="342900" indent="-342900">
              <a:spcAft>
                <a:spcPts val="700"/>
              </a:spcAft>
              <a:buSzPct val="100000"/>
              <a:buChar char="○"/>
            </a:pPr>
            <a:r>
              <a:rPr lang="en-US" sz="1300" b="1" dirty="0">
                <a:solidFill>
                  <a:srgbClr val="1F3350"/>
                </a:solidFill>
              </a:rPr>
              <a:t>Teaching: </a:t>
            </a:r>
            <a:pPr indent="0" marL="0">
              <a:spcAft>
                <a:spcPts val="700"/>
              </a:spcAft>
              <a:buNone/>
            </a:pPr>
            <a:r>
              <a:rPr lang="en-US" sz="1300" dirty="0">
                <a:solidFill>
                  <a:srgbClr val="1F3350"/>
                </a:solidFill>
              </a:rPr>
              <a:t>the path ends with coaching the next class, then examining them.</a:t>
            </a:r>
            <a:endParaRPr lang="en-US" sz="1300" dirty="0"/>
          </a:p>
          <a:p>
            <a:pPr marL="342900" indent="-342900">
              <a:spcAft>
                <a:spcPts val="700"/>
              </a:spcAft>
              <a:buSzPct val="100000"/>
              <a:buChar char="○"/>
            </a:pPr>
            <a:r>
              <a:rPr lang="en-US" sz="1300" b="1" dirty="0">
                <a:solidFill>
                  <a:srgbClr val="1F3350"/>
                </a:solidFill>
              </a:rPr>
              <a:t>A record: </a:t>
            </a:r>
            <a:pPr indent="0" marL="0">
              <a:spcAft>
                <a:spcPts val="700"/>
              </a:spcAft>
              <a:buNone/>
            </a:pPr>
            <a:r>
              <a:rPr lang="en-US" sz="1300" dirty="0">
                <a:solidFill>
                  <a:srgbClr val="1F3350"/>
                </a:solidFill>
              </a:rPr>
              <a:t>a logged, visible badge board that says exactly what they can do.</a:t>
            </a:r>
            <a:endParaRPr lang="en-US" sz="1300" dirty="0"/>
          </a:p>
        </p:txBody>
      </p:sp>
      <p:sp>
        <p:nvSpPr>
          <p:cNvPr id="8" name="Shape 5"/>
          <p:cNvSpPr/>
          <p:nvPr/>
        </p:nvSpPr>
        <p:spPr>
          <a:xfrm>
            <a:off x="4937760" y="1325880"/>
            <a:ext cx="3749040" cy="2011680"/>
          </a:xfrm>
          <a:prstGeom prst="roundRect">
            <a:avLst>
              <a:gd name="adj" fmla="val 2727"/>
            </a:avLst>
          </a:prstGeom>
          <a:solidFill>
            <a:srgbClr val="EDE7DA"/>
          </a:solidFill>
          <a:ln w="12700">
            <a:solidFill>
              <a:srgbClr val="546881"/>
            </a:solidFill>
            <a:prstDash val="dash"/>
          </a:ln>
        </p:spPr>
      </p:sp>
      <p:sp>
        <p:nvSpPr>
          <p:cNvPr id="9" name="Text 6"/>
          <p:cNvSpPr txBox="1"/>
          <p:nvPr/>
        </p:nvSpPr>
        <p:spPr>
          <a:xfrm>
            <a:off x="4937760" y="1325880"/>
            <a:ext cx="3749040" cy="2011680"/>
          </a:xfrm>
          <a:prstGeom prst="rect">
            <a:avLst/>
          </a:prstGeom>
          <a:noFill/>
          <a:ln/>
        </p:spPr>
        <p:txBody>
          <a:bodyPr wrap="square" lIns="1270" tIns="1270" rIns="1270" bIns="1270" rtlCol="0" anchor="ctr"/>
          <a:lstStyle/>
          <a:p>
            <a:pPr algn="ctr" indent="0" marL="0">
              <a:buNone/>
            </a:pPr>
            <a:r>
              <a:rPr lang="en-US" sz="750" spc="200" kern="0" dirty="0">
                <a:solidFill>
                  <a:srgbClr val="546881"/>
                </a:solidFill>
                <a:latin typeface="Courier New" pitchFamily="34" charset="0"/>
                <a:ea typeface="Courier New" pitchFamily="34" charset="-122"/>
                <a:cs typeface="Courier New" pitchFamily="34" charset="-120"/>
              </a:rPr>
              <a:t>PHOTO COMING FROM THE KIOSK
</a:t>
            </a:r>
            <a:pPr algn="ctr" indent="0" marL="0">
              <a:buNone/>
            </a:pPr>
            <a:r>
              <a:rPr lang="en-US" sz="1100" b="1" dirty="0">
                <a:solidFill>
                  <a:srgbClr val="1F3350"/>
                </a:solidFill>
              </a:rPr>
              <a:t>A member flying on the sim in goggles
</a:t>
            </a:r>
            <a:pPr algn="ctr" indent="0" marL="0">
              <a:buNone/>
            </a:pPr>
            <a:r>
              <a:rPr lang="en-US" sz="700" dirty="0">
                <a:solidFill>
                  <a:srgbClr val="546881"/>
                </a:solidFill>
                <a:latin typeface="Courier New" pitchFamily="34" charset="0"/>
                <a:ea typeface="Courier New" pitchFamily="34" charset="-122"/>
                <a:cs typeface="Courier New" pitchFamily="34" charset="-120"/>
              </a:rPr>
              <a:t>photos/pilot-flying.jpg</a:t>
            </a:r>
            <a:endParaRPr lang="en-US" sz="750" dirty="0"/>
          </a:p>
        </p:txBody>
      </p:sp>
      <p:sp>
        <p:nvSpPr>
          <p:cNvPr id="10" name="Shape 7"/>
          <p:cNvSpPr/>
          <p:nvPr/>
        </p:nvSpPr>
        <p:spPr>
          <a:xfrm>
            <a:off x="4937760" y="3429000"/>
            <a:ext cx="3749040" cy="1197864"/>
          </a:xfrm>
          <a:prstGeom prst="roundRect">
            <a:avLst>
              <a:gd name="adj" fmla="val 4580"/>
            </a:avLst>
          </a:prstGeom>
          <a:solidFill>
            <a:srgbClr val="FFFFFF"/>
          </a:solidFill>
          <a:ln w="9525">
            <a:solidFill>
              <a:srgbClr val="8A94A3"/>
            </a:solidFill>
            <a:prstDash val="solid"/>
          </a:ln>
        </p:spPr>
      </p:sp>
      <p:sp>
        <p:nvSpPr>
          <p:cNvPr id="11" name="Shape 8"/>
          <p:cNvSpPr/>
          <p:nvPr/>
        </p:nvSpPr>
        <p:spPr>
          <a:xfrm>
            <a:off x="4946904" y="3438144"/>
            <a:ext cx="3730752" cy="219456"/>
          </a:xfrm>
          <a:prstGeom prst="rect">
            <a:avLst/>
          </a:prstGeom>
          <a:solidFill>
            <a:srgbClr val="E9E3D6"/>
          </a:solidFill>
          <a:ln w="12700">
            <a:solidFill>
              <a:srgbClr val="E9E3D6"/>
            </a:solidFill>
            <a:prstDash val="solid"/>
          </a:ln>
        </p:spPr>
      </p:sp>
      <p:sp>
        <p:nvSpPr>
          <p:cNvPr id="12" name="Text 9"/>
          <p:cNvSpPr txBox="1"/>
          <p:nvPr/>
        </p:nvSpPr>
        <p:spPr>
          <a:xfrm>
            <a:off x="5047488" y="3438144"/>
            <a:ext cx="352958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kiosk · a pilot’s badge map</a:t>
            </a:r>
            <a:endParaRPr lang="en-US" sz="750" dirty="0"/>
          </a:p>
        </p:txBody>
      </p:sp>
      <p:pic>
        <p:nvPicPr>
          <p:cNvPr id="13" name="Image 0" descr="/private/tmp/claude-503/-Users-user-Documents-Workspace/77a334b4-d7cc-49da-a5bd-6abd8d6b9366/scratchpad/slides/img/kiosk-journey.png">    </p:cNvPr>
          <p:cNvPicPr>
            <a:picLocks noChangeAspect="1"/>
          </p:cNvPicPr>
          <p:nvPr/>
        </p:nvPicPr>
        <p:blipFill>
          <a:blip r:embed="rId1"/>
          <a:srcRect l="0" r="0" t="0" b="0"/>
          <a:stretch/>
        </p:blipFill>
        <p:spPr>
          <a:xfrm>
            <a:off x="4974336" y="3685032"/>
            <a:ext cx="3675888" cy="9052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10 · FOR BROPHY</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What Brophy gets.</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11 / 14  ·  Brophy FPV Club  ·  grant 2026–27</a:t>
            </a:r>
            <a:endParaRPr lang="en-US" sz="800" dirty="0"/>
          </a:p>
        </p:txBody>
      </p:sp>
      <p:sp>
        <p:nvSpPr>
          <p:cNvPr id="7" name="Shape 4"/>
          <p:cNvSpPr/>
          <p:nvPr/>
        </p:nvSpPr>
        <p:spPr>
          <a:xfrm>
            <a:off x="457200" y="1325880"/>
            <a:ext cx="2651760" cy="2148840"/>
          </a:xfrm>
          <a:prstGeom prst="roundRect">
            <a:avLst>
              <a:gd name="adj" fmla="val 3404"/>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8" name="Text 5"/>
          <p:cNvSpPr txBox="1"/>
          <p:nvPr/>
        </p:nvSpPr>
        <p:spPr>
          <a:xfrm>
            <a:off x="621792" y="1435608"/>
            <a:ext cx="2322576"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A STANDING PROGRAM</a:t>
            </a:r>
            <a:endParaRPr lang="en-US" sz="800" dirty="0"/>
          </a:p>
        </p:txBody>
      </p:sp>
      <p:sp>
        <p:nvSpPr>
          <p:cNvPr id="9" name="Text 6"/>
          <p:cNvSpPr txBox="1"/>
          <p:nvPr/>
        </p:nvSpPr>
        <p:spPr>
          <a:xfrm>
            <a:off x="621792" y="1636776"/>
            <a:ext cx="2322576" cy="457200"/>
          </a:xfrm>
          <a:prstGeom prst="rect">
            <a:avLst/>
          </a:prstGeom>
          <a:noFill/>
          <a:ln/>
        </p:spPr>
        <p:txBody>
          <a:bodyPr wrap="square" lIns="0" tIns="0" rIns="0" bIns="0" rtlCol="0" anchor="t"/>
          <a:lstStyle/>
          <a:p>
            <a:pPr indent="0" marL="0">
              <a:buNone/>
            </a:pPr>
            <a:r>
              <a:rPr lang="en-US" sz="1400" b="1" dirty="0">
                <a:solidFill>
                  <a:srgbClr val="1F3350"/>
                </a:solidFill>
              </a:rPr>
              <a:t>A safety standard and a clear answer to “who may fly what”</a:t>
            </a:r>
            <a:endParaRPr lang="en-US" sz="1400" dirty="0"/>
          </a:p>
        </p:txBody>
      </p:sp>
      <p:sp>
        <p:nvSpPr>
          <p:cNvPr id="10" name="Text 7"/>
          <p:cNvSpPr txBox="1"/>
          <p:nvPr/>
        </p:nvSpPr>
        <p:spPr>
          <a:xfrm>
            <a:off x="621792" y="2112264"/>
            <a:ext cx="2322576" cy="1252728"/>
          </a:xfrm>
          <a:prstGeom prst="rect">
            <a:avLst/>
          </a:prstGeom>
          <a:noFill/>
          <a:ln/>
        </p:spPr>
        <p:txBody>
          <a:bodyPr wrap="square" lIns="0" tIns="0" rIns="0" bIns="0" rtlCol="0" anchor="t"/>
          <a:lstStyle/>
          <a:p>
            <a:pPr indent="0" marL="0">
              <a:buNone/>
            </a:pPr>
            <a:r>
              <a:rPr lang="en-US" sz="1100" dirty="0">
                <a:solidFill>
                  <a:srgbClr val="1F3350"/>
                </a:solidFill>
              </a:rPr>
              <a:t>• Written rules, a published badge sheet, a signed record of every award</a:t>
            </a:r>
            <a:endParaRPr lang="en-US" sz="1100" dirty="0"/>
          </a:p>
          <a:p>
            <a:pPr indent="0" marL="0">
              <a:buNone/>
            </a:pPr>
            <a:r>
              <a:rPr lang="en-US" sz="1100" dirty="0">
                <a:solidFill>
                  <a:srgbClr val="1F3350"/>
                </a:solidFill>
              </a:rPr>
              <a:t>• FAA TRUST for every flying member, free</a:t>
            </a:r>
            <a:endParaRPr lang="en-US" sz="1100" dirty="0"/>
          </a:p>
          <a:p>
            <a:pPr indent="0" marL="0">
              <a:buNone/>
            </a:pPr>
            <a:r>
              <a:rPr lang="en-US" sz="1100" dirty="0">
                <a:solidFill>
                  <a:srgbClr val="1F3350"/>
                </a:solidFill>
              </a:rPr>
              <a:t>• Nothing over 250 g until the top tier</a:t>
            </a:r>
            <a:endParaRPr lang="en-US" sz="1100" dirty="0"/>
          </a:p>
        </p:txBody>
      </p:sp>
      <p:sp>
        <p:nvSpPr>
          <p:cNvPr id="11" name="Shape 8"/>
          <p:cNvSpPr/>
          <p:nvPr/>
        </p:nvSpPr>
        <p:spPr>
          <a:xfrm>
            <a:off x="3246120" y="1325880"/>
            <a:ext cx="2651760" cy="2148840"/>
          </a:xfrm>
          <a:prstGeom prst="roundRect">
            <a:avLst>
              <a:gd name="adj" fmla="val 3404"/>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12" name="Text 9"/>
          <p:cNvSpPr txBox="1"/>
          <p:nvPr/>
        </p:nvSpPr>
        <p:spPr>
          <a:xfrm>
            <a:off x="3410712" y="1435608"/>
            <a:ext cx="2322576"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A PIPELINE</a:t>
            </a:r>
            <a:endParaRPr lang="en-US" sz="800" dirty="0"/>
          </a:p>
        </p:txBody>
      </p:sp>
      <p:sp>
        <p:nvSpPr>
          <p:cNvPr id="13" name="Text 10"/>
          <p:cNvSpPr txBox="1"/>
          <p:nvPr/>
        </p:nvSpPr>
        <p:spPr>
          <a:xfrm>
            <a:off x="3410712" y="1636776"/>
            <a:ext cx="2322576" cy="457200"/>
          </a:xfrm>
          <a:prstGeom prst="rect">
            <a:avLst/>
          </a:prstGeom>
          <a:noFill/>
          <a:ln/>
        </p:spPr>
        <p:txBody>
          <a:bodyPr wrap="square" lIns="0" tIns="0" rIns="0" bIns="0" rtlCol="0" anchor="t"/>
          <a:lstStyle/>
          <a:p>
            <a:pPr indent="0" marL="0">
              <a:buNone/>
            </a:pPr>
            <a:r>
              <a:rPr lang="en-US" sz="1400" b="1" dirty="0">
                <a:solidFill>
                  <a:srgbClr val="1F3350"/>
                </a:solidFill>
              </a:rPr>
              <a:t>Trained, certified pilots every single year</a:t>
            </a:r>
            <a:endParaRPr lang="en-US" sz="1400" dirty="0"/>
          </a:p>
        </p:txBody>
      </p:sp>
      <p:sp>
        <p:nvSpPr>
          <p:cNvPr id="14" name="Text 11"/>
          <p:cNvSpPr txBox="1"/>
          <p:nvPr/>
        </p:nvSpPr>
        <p:spPr>
          <a:xfrm>
            <a:off x="3410712" y="2112264"/>
            <a:ext cx="2322576" cy="1252728"/>
          </a:xfrm>
          <a:prstGeom prst="rect">
            <a:avLst/>
          </a:prstGeom>
          <a:noFill/>
          <a:ln/>
        </p:spPr>
        <p:txBody>
          <a:bodyPr wrap="square" lIns="0" tIns="0" rIns="0" bIns="0" rtlCol="0" anchor="t"/>
          <a:lstStyle/>
          <a:p>
            <a:pPr indent="0" marL="0">
              <a:buNone/>
            </a:pPr>
            <a:r>
              <a:rPr lang="en-US" sz="1100" dirty="0">
                <a:solidFill>
                  <a:srgbClr val="1F3350"/>
                </a:solidFill>
              </a:rPr>
              <a:t>• New members start on Simulator Flight the week they join</a:t>
            </a:r>
            <a:endParaRPr lang="en-US" sz="1100" dirty="0"/>
          </a:p>
          <a:p>
            <a:pPr indent="0" marL="0">
              <a:buNone/>
            </a:pPr>
            <a:r>
              <a:rPr lang="en-US" sz="1100" dirty="0">
                <a:solidFill>
                  <a:srgbClr val="1F3350"/>
                </a:solidFill>
              </a:rPr>
              <a:t>• Mentors and examiners are produced by the path itself</a:t>
            </a:r>
            <a:endParaRPr lang="en-US" sz="1100" dirty="0"/>
          </a:p>
          <a:p>
            <a:pPr indent="0" marL="0">
              <a:buNone/>
            </a:pPr>
            <a:r>
              <a:rPr lang="en-US" sz="1100" dirty="0">
                <a:solidFill>
                  <a:srgbClr val="1F3350"/>
                </a:solidFill>
              </a:rPr>
              <a:t>• Fifteen joint community-period meetings with RC Club a year</a:t>
            </a:r>
            <a:endParaRPr lang="en-US" sz="1100" dirty="0"/>
          </a:p>
        </p:txBody>
      </p:sp>
      <p:sp>
        <p:nvSpPr>
          <p:cNvPr id="15" name="Shape 12"/>
          <p:cNvSpPr/>
          <p:nvPr/>
        </p:nvSpPr>
        <p:spPr>
          <a:xfrm>
            <a:off x="6035040" y="1325880"/>
            <a:ext cx="2651760" cy="2148840"/>
          </a:xfrm>
          <a:prstGeom prst="roundRect">
            <a:avLst>
              <a:gd name="adj" fmla="val 3404"/>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16" name="Text 13"/>
          <p:cNvSpPr txBox="1"/>
          <p:nvPr/>
        </p:nvSpPr>
        <p:spPr>
          <a:xfrm>
            <a:off x="6199632" y="1435608"/>
            <a:ext cx="2322576"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THE OUTPUT</a:t>
            </a:r>
            <a:endParaRPr lang="en-US" sz="800" dirty="0"/>
          </a:p>
        </p:txBody>
      </p:sp>
      <p:sp>
        <p:nvSpPr>
          <p:cNvPr id="17" name="Text 14"/>
          <p:cNvSpPr txBox="1"/>
          <p:nvPr/>
        </p:nvSpPr>
        <p:spPr>
          <a:xfrm>
            <a:off x="6199632" y="1636776"/>
            <a:ext cx="2322576" cy="457200"/>
          </a:xfrm>
          <a:prstGeom prst="rect">
            <a:avLst/>
          </a:prstGeom>
          <a:noFill/>
          <a:ln/>
        </p:spPr>
        <p:txBody>
          <a:bodyPr wrap="square" lIns="0" tIns="0" rIns="0" bIns="0" rtlCol="0" anchor="t"/>
          <a:lstStyle/>
          <a:p>
            <a:pPr indent="0" marL="0">
              <a:buNone/>
            </a:pPr>
            <a:r>
              <a:rPr lang="en-US" sz="1400" b="1" dirty="0">
                <a:solidFill>
                  <a:srgbClr val="1F3350"/>
                </a:solidFill>
              </a:rPr>
              <a:t>Footage and moments the school can actually use</a:t>
            </a:r>
            <a:endParaRPr lang="en-US" sz="1400" dirty="0"/>
          </a:p>
        </p:txBody>
      </p:sp>
      <p:sp>
        <p:nvSpPr>
          <p:cNvPr id="18" name="Text 15"/>
          <p:cNvSpPr txBox="1"/>
          <p:nvPr/>
        </p:nvSpPr>
        <p:spPr>
          <a:xfrm>
            <a:off x="6199632" y="2112264"/>
            <a:ext cx="2322576" cy="1252728"/>
          </a:xfrm>
          <a:prstGeom prst="rect">
            <a:avLst/>
          </a:prstGeom>
          <a:noFill/>
          <a:ln/>
        </p:spPr>
        <p:txBody>
          <a:bodyPr wrap="square" lIns="0" tIns="0" rIns="0" bIns="0" rtlCol="0" anchor="t"/>
          <a:lstStyle/>
          <a:p>
            <a:pPr indent="0" marL="0">
              <a:buNone/>
            </a:pPr>
            <a:r>
              <a:rPr lang="en-US" sz="1100" dirty="0">
                <a:solidFill>
                  <a:srgbClr val="1F3350"/>
                </a:solidFill>
              </a:rPr>
              <a:t>• Best of Brophy: short aerial clips any team or club can use, two showcase films a year</a:t>
            </a:r>
            <a:endParaRPr lang="en-US" sz="1100" dirty="0"/>
          </a:p>
          <a:p>
            <a:pPr indent="0" marL="0">
              <a:buNone/>
            </a:pPr>
            <a:r>
              <a:rPr lang="en-US" sz="1100" dirty="0">
                <a:solidFill>
                  <a:srgbClr val="1F3350"/>
                </a:solidFill>
              </a:rPr>
              <a:t>• A live FPV race at the pep rally, pilot’s-eye view on the scoreboard</a:t>
            </a:r>
            <a:endParaRPr lang="en-US" sz="1100" dirty="0"/>
          </a:p>
          <a:p>
            <a:pPr indent="0" marL="0">
              <a:buNone/>
            </a:pPr>
            <a:r>
              <a:rPr lang="en-US" sz="1100" dirty="0">
                <a:solidFill>
                  <a:srgbClr val="1F3350"/>
                </a:solidFill>
              </a:rPr>
              <a:t>• A recruiting moment: students see FPV before they hear about it</a:t>
            </a:r>
            <a:endParaRPr lang="en-US" sz="1100" dirty="0"/>
          </a:p>
        </p:txBody>
      </p:sp>
      <p:sp>
        <p:nvSpPr>
          <p:cNvPr id="19" name="Text 16"/>
          <p:cNvSpPr txBox="1"/>
          <p:nvPr/>
        </p:nvSpPr>
        <p:spPr>
          <a:xfrm>
            <a:off x="457200" y="3657600"/>
            <a:ext cx="5120640" cy="914400"/>
          </a:xfrm>
          <a:prstGeom prst="rect">
            <a:avLst/>
          </a:prstGeom>
          <a:noFill/>
          <a:ln/>
        </p:spPr>
        <p:txBody>
          <a:bodyPr wrap="square" lIns="0" tIns="0" rIns="0" bIns="0" rtlCol="0" anchor="t"/>
          <a:lstStyle/>
          <a:p>
            <a:pPr indent="0" marL="0">
              <a:buNone/>
            </a:pPr>
            <a:r>
              <a:rPr lang="en-US" sz="1200" b="1" dirty="0">
                <a:solidFill>
                  <a:srgbClr val="1F3350"/>
                </a:solidFill>
              </a:rPr>
              <a:t>A model other clubs can copy. </a:t>
            </a:r>
            <a:pPr indent="0" marL="0">
              <a:buNone/>
            </a:pPr>
            <a:r>
              <a:rPr lang="en-US" sz="1200" dirty="0">
                <a:solidFill>
                  <a:srgbClr val="1F3350"/>
                </a:solidFill>
              </a:rPr>
              <a:t>Badge → gate → gear is not drone-specific. Robotics, shop, A/V: any club with expensive tools and a safety question can run the same system.</a:t>
            </a:r>
            <a:endParaRPr lang="en-US" sz="1200" dirty="0"/>
          </a:p>
        </p:txBody>
      </p:sp>
      <p:sp>
        <p:nvSpPr>
          <p:cNvPr id="20" name="Shape 17"/>
          <p:cNvSpPr/>
          <p:nvPr/>
        </p:nvSpPr>
        <p:spPr>
          <a:xfrm>
            <a:off x="6035040" y="3611880"/>
            <a:ext cx="2651760" cy="1106424"/>
          </a:xfrm>
          <a:prstGeom prst="roundRect">
            <a:avLst>
              <a:gd name="adj" fmla="val 4959"/>
            </a:avLst>
          </a:prstGeom>
          <a:solidFill>
            <a:srgbClr val="FFFFFF"/>
          </a:solidFill>
          <a:ln w="9525">
            <a:solidFill>
              <a:srgbClr val="8A94A3"/>
            </a:solidFill>
            <a:prstDash val="solid"/>
          </a:ln>
        </p:spPr>
      </p:sp>
      <p:sp>
        <p:nvSpPr>
          <p:cNvPr id="21" name="Shape 18"/>
          <p:cNvSpPr/>
          <p:nvPr/>
        </p:nvSpPr>
        <p:spPr>
          <a:xfrm>
            <a:off x="6044184" y="3621024"/>
            <a:ext cx="2633472" cy="219456"/>
          </a:xfrm>
          <a:prstGeom prst="rect">
            <a:avLst/>
          </a:prstGeom>
          <a:solidFill>
            <a:srgbClr val="E9E3D6"/>
          </a:solidFill>
          <a:ln w="12700">
            <a:solidFill>
              <a:srgbClr val="E9E3D6"/>
            </a:solidFill>
            <a:prstDash val="solid"/>
          </a:ln>
        </p:spPr>
      </p:sp>
      <p:sp>
        <p:nvSpPr>
          <p:cNvPr id="22" name="Text 19"/>
          <p:cNvSpPr txBox="1"/>
          <p:nvPr/>
        </p:nvSpPr>
        <p:spPr>
          <a:xfrm>
            <a:off x="6144768" y="3621024"/>
            <a:ext cx="2432304" cy="219456"/>
          </a:xfrm>
          <a:prstGeom prst="rect">
            <a:avLst/>
          </a:prstGeom>
          <a:noFill/>
          <a:ln/>
        </p:spPr>
        <p:txBody>
          <a:bodyPr wrap="square" lIns="0" tIns="0" rIns="0" bIns="0" rtlCol="0" anchor="ctr"/>
          <a:lstStyle/>
          <a:p>
            <a:pPr indent="0" marL="0">
              <a:buNone/>
            </a:pPr>
            <a:r>
              <a:rPr lang="en-US" sz="750" dirty="0">
                <a:solidFill>
                  <a:srgbClr val="546881"/>
                </a:solidFill>
                <a:latin typeface="Courier New" pitchFamily="34" charset="0"/>
                <a:ea typeface="Courier New" pitchFamily="34" charset="-122"/>
                <a:cs typeface="Courier New" pitchFamily="34" charset="-120"/>
              </a:rPr>
              <a:t>…/brophy-uav-dashboard/posters/</a:t>
            </a:r>
            <a:endParaRPr lang="en-US" sz="750" dirty="0"/>
          </a:p>
        </p:txBody>
      </p:sp>
      <p:pic>
        <p:nvPicPr>
          <p:cNvPr id="23" name="Image 0" descr="/private/tmp/claude-503/-Users-user-Documents-Workspace/77a334b4-d7cc-49da-a5bd-6abd8d6b9366/scratchpad/slides/img/web-posters.jpg">    </p:cNvPr>
          <p:cNvPicPr>
            <a:picLocks noChangeAspect="1"/>
          </p:cNvPicPr>
          <p:nvPr/>
        </p:nvPicPr>
        <p:blipFill>
          <a:blip r:embed="rId1"/>
          <a:srcRect l="0" r="0" t="0" b="0"/>
          <a:stretch/>
        </p:blipFill>
        <p:spPr>
          <a:xfrm>
            <a:off x="6071616" y="3867912"/>
            <a:ext cx="2578608" cy="8138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11 · THE EQUIPMENT, BRIEFLY</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F3350"/>
                </a:solidFill>
              </a:rPr>
              <a:t>The drones are the training fleet the badge system runs on.</a:t>
            </a:r>
            <a:endParaRPr lang="en-US" sz="24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12 / 14  ·  Brophy FPV Club  ·  grant 2026–27</a:t>
            </a:r>
            <a:endParaRPr lang="en-US" sz="800" dirty="0"/>
          </a:p>
        </p:txBody>
      </p:sp>
      <p:sp>
        <p:nvSpPr>
          <p:cNvPr id="7" name="Shape 4"/>
          <p:cNvSpPr/>
          <p:nvPr/>
        </p:nvSpPr>
        <p:spPr>
          <a:xfrm>
            <a:off x="457200" y="1325880"/>
            <a:ext cx="4023360" cy="1463040"/>
          </a:xfrm>
          <a:prstGeom prst="roundRect">
            <a:avLst>
              <a:gd name="adj" fmla="val 5000"/>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8" name="Text 5"/>
          <p:cNvSpPr txBox="1"/>
          <p:nvPr/>
        </p:nvSpPr>
        <p:spPr>
          <a:xfrm>
            <a:off x="621792" y="1435608"/>
            <a:ext cx="3694176" cy="201168"/>
          </a:xfrm>
          <a:prstGeom prst="rect">
            <a:avLst/>
          </a:prstGeom>
          <a:noFill/>
          <a:ln/>
        </p:spPr>
        <p:txBody>
          <a:bodyPr wrap="square" lIns="0" tIns="0" rIns="0" bIns="0" rtlCol="0" anchor="ctr"/>
          <a:lstStyle/>
          <a:p>
            <a:pPr indent="0" marL="0">
              <a:buNone/>
            </a:pPr>
            <a:r>
              <a:rPr lang="en-US" sz="800" spc="200" kern="0" dirty="0">
                <a:solidFill>
                  <a:srgbClr val="4B3287"/>
                </a:solidFill>
                <a:latin typeface="Courier New" pitchFamily="34" charset="0"/>
                <a:ea typeface="Courier New" pitchFamily="34" charset="-122"/>
                <a:cs typeface="Courier New" pitchFamily="34" charset="-120"/>
              </a:rPr>
              <a:t>TRAINERS · TIER 1</a:t>
            </a:r>
            <a:endParaRPr lang="en-US" sz="800" dirty="0"/>
          </a:p>
        </p:txBody>
      </p:sp>
      <p:sp>
        <p:nvSpPr>
          <p:cNvPr id="9" name="Text 6"/>
          <p:cNvSpPr txBox="1"/>
          <p:nvPr/>
        </p:nvSpPr>
        <p:spPr>
          <a:xfrm>
            <a:off x="621792" y="1636776"/>
            <a:ext cx="3694176" cy="457200"/>
          </a:xfrm>
          <a:prstGeom prst="rect">
            <a:avLst/>
          </a:prstGeom>
          <a:noFill/>
          <a:ln/>
        </p:spPr>
        <p:txBody>
          <a:bodyPr wrap="square" lIns="0" tIns="0" rIns="0" bIns="0" rtlCol="0" anchor="t"/>
          <a:lstStyle/>
          <a:p>
            <a:pPr indent="0" marL="0">
              <a:buNone/>
            </a:pPr>
            <a:r>
              <a:rPr lang="en-US" sz="1400" b="1" dirty="0">
                <a:solidFill>
                  <a:srgbClr val="1F3350"/>
                </a:solidFill>
              </a:rPr>
              <a:t>Two Meteor 75 Pro tiny whoops</a:t>
            </a:r>
            <a:endParaRPr lang="en-US" sz="1400" dirty="0"/>
          </a:p>
        </p:txBody>
      </p:sp>
      <p:sp>
        <p:nvSpPr>
          <p:cNvPr id="10" name="Text 7"/>
          <p:cNvSpPr txBox="1"/>
          <p:nvPr/>
        </p:nvSpPr>
        <p:spPr>
          <a:xfrm>
            <a:off x="621792" y="2112264"/>
            <a:ext cx="3694176" cy="566928"/>
          </a:xfrm>
          <a:prstGeom prst="rect">
            <a:avLst/>
          </a:prstGeom>
          <a:noFill/>
          <a:ln/>
        </p:spPr>
        <p:txBody>
          <a:bodyPr wrap="square" lIns="0" tIns="0" rIns="0" bIns="0" rtlCol="0" anchor="t"/>
          <a:lstStyle/>
          <a:p>
            <a:pPr indent="0" marL="0">
              <a:buNone/>
            </a:pPr>
            <a:r>
              <a:rPr lang="en-US" sz="1100" dirty="0">
                <a:solidFill>
                  <a:srgbClr val="1F3350"/>
                </a:solidFill>
              </a:rPr>
              <a:t>Sub-250 g, ducted props, safe indoors, cheap to crash. Eight students are training today without a drone to share. Two trainers means two first flights at once.</a:t>
            </a:r>
            <a:endParaRPr lang="en-US" sz="1100" dirty="0"/>
          </a:p>
        </p:txBody>
      </p:sp>
      <p:sp>
        <p:nvSpPr>
          <p:cNvPr id="11" name="Shape 8"/>
          <p:cNvSpPr/>
          <p:nvPr/>
        </p:nvSpPr>
        <p:spPr>
          <a:xfrm>
            <a:off x="4663440" y="1325880"/>
            <a:ext cx="4023360" cy="1463040"/>
          </a:xfrm>
          <a:prstGeom prst="roundRect">
            <a:avLst>
              <a:gd name="adj" fmla="val 5000"/>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12" name="Text 9"/>
          <p:cNvSpPr txBox="1"/>
          <p:nvPr/>
        </p:nvSpPr>
        <p:spPr>
          <a:xfrm>
            <a:off x="4828032" y="1435608"/>
            <a:ext cx="3694176" cy="201168"/>
          </a:xfrm>
          <a:prstGeom prst="rect">
            <a:avLst/>
          </a:prstGeom>
          <a:noFill/>
          <a:ln/>
        </p:spPr>
        <p:txBody>
          <a:bodyPr wrap="square" lIns="0" tIns="0" rIns="0" bIns="0" rtlCol="0" anchor="ctr"/>
          <a:lstStyle/>
          <a:p>
            <a:pPr indent="0" marL="0">
              <a:buNone/>
            </a:pPr>
            <a:r>
              <a:rPr lang="en-US" sz="800" spc="200" kern="0" dirty="0">
                <a:solidFill>
                  <a:srgbClr val="1C5578"/>
                </a:solidFill>
                <a:latin typeface="Courier New" pitchFamily="34" charset="0"/>
                <a:ea typeface="Courier New" pitchFamily="34" charset="-122"/>
                <a:cs typeface="Courier New" pitchFamily="34" charset="-120"/>
              </a:rPr>
              <a:t>PILOT KIT</a:t>
            </a:r>
            <a:endParaRPr lang="en-US" sz="800" dirty="0"/>
          </a:p>
        </p:txBody>
      </p:sp>
      <p:sp>
        <p:nvSpPr>
          <p:cNvPr id="13" name="Text 10"/>
          <p:cNvSpPr txBox="1"/>
          <p:nvPr/>
        </p:nvSpPr>
        <p:spPr>
          <a:xfrm>
            <a:off x="4828032" y="1636776"/>
            <a:ext cx="3694176" cy="457200"/>
          </a:xfrm>
          <a:prstGeom prst="rect">
            <a:avLst/>
          </a:prstGeom>
          <a:noFill/>
          <a:ln/>
        </p:spPr>
        <p:txBody>
          <a:bodyPr wrap="square" lIns="0" tIns="0" rIns="0" bIns="0" rtlCol="0" anchor="t"/>
          <a:lstStyle/>
          <a:p>
            <a:pPr indent="0" marL="0">
              <a:buNone/>
            </a:pPr>
            <a:r>
              <a:rPr lang="en-US" sz="1400" b="1" dirty="0">
                <a:solidFill>
                  <a:srgbClr val="1F3350"/>
                </a:solidFill>
              </a:rPr>
              <a:t>Two goggle-and-radio sets</a:t>
            </a:r>
            <a:endParaRPr lang="en-US" sz="1400" dirty="0"/>
          </a:p>
        </p:txBody>
      </p:sp>
      <p:sp>
        <p:nvSpPr>
          <p:cNvPr id="14" name="Text 11"/>
          <p:cNvSpPr txBox="1"/>
          <p:nvPr/>
        </p:nvSpPr>
        <p:spPr>
          <a:xfrm>
            <a:off x="4828032" y="2112264"/>
            <a:ext cx="3694176" cy="566928"/>
          </a:xfrm>
          <a:prstGeom prst="rect">
            <a:avLst/>
          </a:prstGeom>
          <a:noFill/>
          <a:ln/>
        </p:spPr>
        <p:txBody>
          <a:bodyPr wrap="square" lIns="0" tIns="0" rIns="0" bIns="0" rtlCol="0" anchor="t"/>
          <a:lstStyle/>
          <a:p>
            <a:pPr indent="0" marL="0">
              <a:buNone/>
            </a:pPr>
            <a:r>
              <a:rPr lang="en-US" sz="1100" dirty="0">
                <a:solidFill>
                  <a:srgbClr val="1F3350"/>
                </a:solidFill>
              </a:rPr>
              <a:t>Two pilots can train or fly at the same time, on the sim or in the air. Goggles and radios last about eight years, so this is the part the school buys once.</a:t>
            </a:r>
            <a:endParaRPr lang="en-US" sz="1100" dirty="0"/>
          </a:p>
        </p:txBody>
      </p:sp>
      <p:sp>
        <p:nvSpPr>
          <p:cNvPr id="15" name="Shape 12"/>
          <p:cNvSpPr/>
          <p:nvPr/>
        </p:nvSpPr>
        <p:spPr>
          <a:xfrm>
            <a:off x="457200" y="2926080"/>
            <a:ext cx="4023360" cy="1463040"/>
          </a:xfrm>
          <a:prstGeom prst="roundRect">
            <a:avLst>
              <a:gd name="adj" fmla="val 5000"/>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16" name="Text 13"/>
          <p:cNvSpPr txBox="1"/>
          <p:nvPr/>
        </p:nvSpPr>
        <p:spPr>
          <a:xfrm>
            <a:off x="621792" y="3035808"/>
            <a:ext cx="3694176" cy="201168"/>
          </a:xfrm>
          <a:prstGeom prst="rect">
            <a:avLst/>
          </a:prstGeom>
          <a:noFill/>
          <a:ln/>
        </p:spPr>
        <p:txBody>
          <a:bodyPr wrap="square" lIns="0" tIns="0" rIns="0" bIns="0" rtlCol="0" anchor="ctr"/>
          <a:lstStyle/>
          <a:p>
            <a:pPr indent="0" marL="0">
              <a:buNone/>
            </a:pPr>
            <a:r>
              <a:rPr lang="en-US" sz="800" spc="200" kern="0" dirty="0">
                <a:solidFill>
                  <a:srgbClr val="8F3D12"/>
                </a:solidFill>
                <a:latin typeface="Courier New" pitchFamily="34" charset="0"/>
                <a:ea typeface="Courier New" pitchFamily="34" charset="-122"/>
                <a:cs typeface="Courier New" pitchFamily="34" charset="-120"/>
              </a:rPr>
              <a:t>CAMERA SHIP · TIER 2</a:t>
            </a:r>
            <a:endParaRPr lang="en-US" sz="800" dirty="0"/>
          </a:p>
        </p:txBody>
      </p:sp>
      <p:sp>
        <p:nvSpPr>
          <p:cNvPr id="17" name="Text 14"/>
          <p:cNvSpPr txBox="1"/>
          <p:nvPr/>
        </p:nvSpPr>
        <p:spPr>
          <a:xfrm>
            <a:off x="621792" y="3236976"/>
            <a:ext cx="3694176" cy="457200"/>
          </a:xfrm>
          <a:prstGeom prst="rect">
            <a:avLst/>
          </a:prstGeom>
          <a:noFill/>
          <a:ln/>
        </p:spPr>
        <p:txBody>
          <a:bodyPr wrap="square" lIns="0" tIns="0" rIns="0" bIns="0" rtlCol="0" anchor="t"/>
          <a:lstStyle/>
          <a:p>
            <a:pPr indent="0" marL="0">
              <a:buNone/>
            </a:pPr>
            <a:r>
              <a:rPr lang="en-US" sz="1400" b="1" dirty="0">
                <a:solidFill>
                  <a:srgbClr val="1F3350"/>
                </a:solidFill>
              </a:rPr>
              <a:t>One Pavo 20 Pro cinewhoop</a:t>
            </a:r>
            <a:endParaRPr lang="en-US" sz="1400" dirty="0"/>
          </a:p>
        </p:txBody>
      </p:sp>
      <p:sp>
        <p:nvSpPr>
          <p:cNvPr id="18" name="Text 15"/>
          <p:cNvSpPr txBox="1"/>
          <p:nvPr/>
        </p:nvSpPr>
        <p:spPr>
          <a:xfrm>
            <a:off x="621792" y="3712464"/>
            <a:ext cx="3694176" cy="566928"/>
          </a:xfrm>
          <a:prstGeom prst="rect">
            <a:avLst/>
          </a:prstGeom>
          <a:noFill/>
          <a:ln/>
        </p:spPr>
        <p:txBody>
          <a:bodyPr wrap="square" lIns="0" tIns="0" rIns="0" bIns="0" rtlCol="0" anchor="t"/>
          <a:lstStyle/>
          <a:p>
            <a:pPr indent="0" marL="0">
              <a:buNone/>
            </a:pPr>
            <a:r>
              <a:rPr lang="en-US" sz="1100" dirty="0">
                <a:solidFill>
                  <a:srgbClr val="1F3350"/>
                </a:solidFill>
              </a:rPr>
              <a:t>Ducted, so it can fly near people; a D-log camera, so the footage can be graded. The drone Best of Brophy is shot on, and the airframe the top-tier badges are tested on.</a:t>
            </a:r>
            <a:endParaRPr lang="en-US" sz="1100" dirty="0"/>
          </a:p>
        </p:txBody>
      </p:sp>
      <p:sp>
        <p:nvSpPr>
          <p:cNvPr id="19" name="Shape 16"/>
          <p:cNvSpPr/>
          <p:nvPr/>
        </p:nvSpPr>
        <p:spPr>
          <a:xfrm>
            <a:off x="4663440" y="2926080"/>
            <a:ext cx="4023360" cy="1463040"/>
          </a:xfrm>
          <a:prstGeom prst="roundRect">
            <a:avLst>
              <a:gd name="adj" fmla="val 5000"/>
            </a:avLst>
          </a:prstGeom>
          <a:solidFill>
            <a:srgbClr val="FFFFFF"/>
          </a:solidFill>
          <a:ln w="9525">
            <a:solidFill>
              <a:srgbClr val="B9B1A2"/>
            </a:solidFill>
            <a:prstDash val="solid"/>
          </a:ln>
          <a:effectLst>
            <a:outerShdw sx="100000" sy="100000" kx="0" ky="0" algn="bl" rotWithShape="0" blurRad="76200" dist="25400" dir="5400000">
              <a:srgbClr val="1F3350">
                <a:alpha val="12000"/>
              </a:srgbClr>
            </a:outerShdw>
          </a:effectLst>
        </p:spPr>
      </p:sp>
      <p:sp>
        <p:nvSpPr>
          <p:cNvPr id="20" name="Text 17"/>
          <p:cNvSpPr txBox="1"/>
          <p:nvPr/>
        </p:nvSpPr>
        <p:spPr>
          <a:xfrm>
            <a:off x="4828032" y="3035808"/>
            <a:ext cx="3694176" cy="201168"/>
          </a:xfrm>
          <a:prstGeom prst="rect">
            <a:avLst/>
          </a:prstGeom>
          <a:noFill/>
          <a:ln/>
        </p:spPr>
        <p:txBody>
          <a:bodyPr wrap="square" lIns="0" tIns="0" rIns="0" bIns="0" rtlCol="0" anchor="ctr"/>
          <a:lstStyle/>
          <a:p>
            <a:pPr indent="0" marL="0">
              <a:buNone/>
            </a:pPr>
            <a:r>
              <a:rPr lang="en-US" sz="800" spc="200" kern="0" dirty="0">
                <a:solidFill>
                  <a:srgbClr val="7D5810"/>
                </a:solidFill>
                <a:latin typeface="Courier New" pitchFamily="34" charset="0"/>
                <a:ea typeface="Courier New" pitchFamily="34" charset="-122"/>
                <a:cs typeface="Courier New" pitchFamily="34" charset="-120"/>
              </a:rPr>
              <a:t>KEEP IT FLYING</a:t>
            </a:r>
            <a:endParaRPr lang="en-US" sz="800" dirty="0"/>
          </a:p>
        </p:txBody>
      </p:sp>
      <p:sp>
        <p:nvSpPr>
          <p:cNvPr id="21" name="Text 18"/>
          <p:cNvSpPr txBox="1"/>
          <p:nvPr/>
        </p:nvSpPr>
        <p:spPr>
          <a:xfrm>
            <a:off x="4828032" y="3236976"/>
            <a:ext cx="3694176" cy="457200"/>
          </a:xfrm>
          <a:prstGeom prst="rect">
            <a:avLst/>
          </a:prstGeom>
          <a:noFill/>
          <a:ln/>
        </p:spPr>
        <p:txBody>
          <a:bodyPr wrap="square" lIns="0" tIns="0" rIns="0" bIns="0" rtlCol="0" anchor="t"/>
          <a:lstStyle/>
          <a:p>
            <a:pPr indent="0" marL="0">
              <a:buNone/>
            </a:pPr>
            <a:r>
              <a:rPr lang="en-US" sz="1400" b="1" dirty="0">
                <a:solidFill>
                  <a:srgbClr val="1F3350"/>
                </a:solidFill>
              </a:rPr>
              <a:t>Spares, batteries, a smoke stopper, two screwdrivers</a:t>
            </a:r>
            <a:endParaRPr lang="en-US" sz="1400" dirty="0"/>
          </a:p>
        </p:txBody>
      </p:sp>
      <p:sp>
        <p:nvSpPr>
          <p:cNvPr id="22" name="Text 19"/>
          <p:cNvSpPr txBox="1"/>
          <p:nvPr/>
        </p:nvSpPr>
        <p:spPr>
          <a:xfrm>
            <a:off x="4828032" y="3712464"/>
            <a:ext cx="3694176" cy="566928"/>
          </a:xfrm>
          <a:prstGeom prst="rect">
            <a:avLst/>
          </a:prstGeom>
          <a:noFill/>
          <a:ln/>
        </p:spPr>
        <p:txBody>
          <a:bodyPr wrap="square" lIns="0" tIns="0" rIns="0" bIns="0" rtlCol="0" anchor="t"/>
          <a:lstStyle/>
          <a:p>
            <a:pPr indent="0" marL="0">
              <a:buNone/>
            </a:pPr>
            <a:r>
              <a:rPr lang="en-US" sz="1100" dirty="0">
                <a:solidFill>
                  <a:srgbClr val="1F3350"/>
                </a:solidFill>
              </a:rPr>
              <a:t>Members fix what they break: that is a badge, not a chore. Spare frames, props and motors mean a crash is a repair lesson, not a purchase order.</a:t>
            </a:r>
            <a:endParaRPr lang="en-US" sz="1100" dirty="0"/>
          </a:p>
        </p:txBody>
      </p:sp>
      <p:sp>
        <p:nvSpPr>
          <p:cNvPr id="23" name="Text 20"/>
          <p:cNvSpPr txBox="1"/>
          <p:nvPr/>
        </p:nvSpPr>
        <p:spPr>
          <a:xfrm>
            <a:off x="457200" y="4462272"/>
            <a:ext cx="8229600" cy="365760"/>
          </a:xfrm>
          <a:prstGeom prst="rect">
            <a:avLst/>
          </a:prstGeom>
          <a:noFill/>
          <a:ln/>
        </p:spPr>
        <p:txBody>
          <a:bodyPr wrap="square" lIns="0" tIns="0" rIns="0" bIns="0" rtlCol="0" anchor="ctr"/>
          <a:lstStyle/>
          <a:p>
            <a:pPr indent="0" marL="0">
              <a:buNone/>
            </a:pPr>
            <a:r>
              <a:rPr lang="en-US" sz="1050" b="1" dirty="0">
                <a:solidFill>
                  <a:srgbClr val="1F3350"/>
                </a:solidFill>
              </a:rPr>
              <a:t>About $1,975 estimated, inside the $2,000 ask, </a:t>
            </a:r>
            <a:pPr indent="0" marL="0">
              <a:buNone/>
            </a:pPr>
            <a:r>
              <a:rPr lang="en-US" sz="1050" dirty="0">
                <a:solidFill>
                  <a:srgbClr val="1F3350"/>
                </a:solidFill>
              </a:rPr>
              <a:t>with the pep-rally course priced after Stuco confirms the slot. Many essentials are donated by members. The full parts list, with a reason beside every line, is in the proposal.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12 · THE ASK</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$2,000, tied to three projects.</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13 / 14  ·  Brophy FPV Club  ·  grant 2026–27</a:t>
            </a:r>
            <a:endParaRPr lang="en-US" sz="800" dirty="0"/>
          </a:p>
        </p:txBody>
      </p:sp>
      <p:sp>
        <p:nvSpPr>
          <p:cNvPr id="7" name="Text 4"/>
          <p:cNvSpPr txBox="1"/>
          <p:nvPr/>
        </p:nvSpPr>
        <p:spPr>
          <a:xfrm>
            <a:off x="457200" y="1325880"/>
            <a:ext cx="4206240"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F3350"/>
                </a:solidFill>
              </a:rPr>
              <a:t>The Badge Program: </a:t>
            </a:r>
            <a:pPr indent="0" marL="0">
              <a:spcAft>
                <a:spcPts val="700"/>
              </a:spcAft>
              <a:buNone/>
            </a:pPr>
            <a:r>
              <a:rPr lang="en-US" sz="1300" dirty="0">
                <a:solidFill>
                  <a:srgbClr val="1F3350"/>
                </a:solidFill>
              </a:rPr>
              <a:t>a standing certification path, run inside every club meeting.</a:t>
            </a:r>
            <a:endParaRPr lang="en-US" sz="1300" dirty="0"/>
          </a:p>
          <a:p>
            <a:pPr marL="342900" indent="-342900">
              <a:spcAft>
                <a:spcPts val="700"/>
              </a:spcAft>
              <a:buSzPct val="100000"/>
              <a:buChar char="○"/>
            </a:pPr>
            <a:r>
              <a:rPr lang="en-US" sz="1300" b="1" dirty="0">
                <a:solidFill>
                  <a:srgbClr val="1F3350"/>
                </a:solidFill>
              </a:rPr>
              <a:t>Best of Brophy: </a:t>
            </a:r>
            <a:pPr indent="0" marL="0">
              <a:spcAft>
                <a:spcPts val="700"/>
              </a:spcAft>
              <a:buNone/>
            </a:pPr>
            <a:r>
              <a:rPr lang="en-US" sz="1300" dirty="0">
                <a:solidFill>
                  <a:srgbClr val="1F3350"/>
                </a:solidFill>
              </a:rPr>
              <a:t>aerial clips through the year, a showcase film each semester.</a:t>
            </a:r>
            <a:endParaRPr lang="en-US" sz="1300" dirty="0"/>
          </a:p>
          <a:p>
            <a:pPr marL="342900" indent="-342900">
              <a:spcAft>
                <a:spcPts val="700"/>
              </a:spcAft>
              <a:buSzPct val="100000"/>
              <a:buChar char="○"/>
            </a:pPr>
            <a:r>
              <a:rPr lang="en-US" sz="1300" b="1" dirty="0">
                <a:solidFill>
                  <a:srgbClr val="1F3350"/>
                </a:solidFill>
              </a:rPr>
              <a:t>The pep-rally race: </a:t>
            </a:r>
            <a:pPr indent="0" marL="0">
              <a:spcAft>
                <a:spcPts val="700"/>
              </a:spcAft>
              <a:buNone/>
            </a:pPr>
            <a:r>
              <a:rPr lang="en-US" sz="1300" dirty="0">
                <a:solidFill>
                  <a:srgbClr val="1F3350"/>
                </a:solidFill>
              </a:rPr>
              <a:t>a live FPV race on the scoreboard, if Stuco and Student Activities approve the segment.</a:t>
            </a:r>
            <a:endParaRPr lang="en-US" sz="1300" dirty="0"/>
          </a:p>
          <a:p>
            <a:pPr marL="342900" indent="-342900">
              <a:spcAft>
                <a:spcPts val="700"/>
              </a:spcAft>
              <a:buSzPct val="100000"/>
              <a:buChar char="○"/>
            </a:pPr>
            <a:r>
              <a:rPr lang="en-US" sz="1300" b="1" dirty="0">
                <a:solidFill>
                  <a:srgbClr val="1F3350"/>
                </a:solidFill>
              </a:rPr>
              <a:t>Next steps: </a:t>
            </a:r>
            <a:pPr indent="0" marL="0">
              <a:spcAft>
                <a:spcPts val="700"/>
              </a:spcAft>
              <a:buNone/>
            </a:pPr>
            <a:r>
              <a:rPr lang="en-US" sz="1300" dirty="0">
                <a:solidFill>
                  <a:srgbClr val="1F3350"/>
                </a:solidFill>
              </a:rPr>
              <a:t>Mr. Reasy, then Mr. Burr for Student Activities sign-off, Stuco on the rally slot, then the fall assembly pitch with recruiting.</a:t>
            </a:r>
            <a:endParaRPr lang="en-US" sz="1300" dirty="0"/>
          </a:p>
          <a:p>
            <a:pPr marL="342900" indent="-342900">
              <a:spcAft>
                <a:spcPts val="700"/>
              </a:spcAft>
              <a:buSzPct val="100000"/>
              <a:buChar char="○"/>
            </a:pPr>
            <a:r>
              <a:rPr lang="en-US" sz="1300" b="1" dirty="0">
                <a:solidFill>
                  <a:srgbClr val="1F3350"/>
                </a:solidFill>
              </a:rPr>
              <a:t>Once funded: </a:t>
            </a:r>
            <a:pPr indent="0" marL="0">
              <a:spcAft>
                <a:spcPts val="700"/>
              </a:spcAft>
              <a:buNone/>
            </a:pPr>
            <a:r>
              <a:rPr lang="en-US" sz="1300" dirty="0">
                <a:solidFill>
                  <a:srgbClr val="1F3350"/>
                </a:solidFill>
              </a:rPr>
              <a:t>order the fleet, publish the badge sheet, certify current pilots as examiners, start every new member on Simulator Flight.</a:t>
            </a:r>
            <a:endParaRPr lang="en-US" sz="1300" dirty="0"/>
          </a:p>
        </p:txBody>
      </p:sp>
      <p:sp>
        <p:nvSpPr>
          <p:cNvPr id="8" name="Shape 5"/>
          <p:cNvSpPr/>
          <p:nvPr/>
        </p:nvSpPr>
        <p:spPr>
          <a:xfrm>
            <a:off x="4937760" y="1325880"/>
            <a:ext cx="2194560" cy="2697480"/>
          </a:xfrm>
          <a:prstGeom prst="roundRect">
            <a:avLst>
              <a:gd name="adj" fmla="val 2500"/>
            </a:avLst>
          </a:prstGeom>
          <a:solidFill>
            <a:srgbClr val="FFFFFF"/>
          </a:solidFill>
          <a:ln w="19050">
            <a:solidFill>
              <a:srgbClr val="8F3D12"/>
            </a:solidFill>
            <a:prstDash val="solid"/>
          </a:ln>
        </p:spPr>
      </p:sp>
      <p:pic>
        <p:nvPicPr>
          <p:cNvPr id="9" name="Image 0" descr="/Users/user/Documents/Workspace/brophy-fpv-grant/assets/qr/proposal.png">    </p:cNvPr>
          <p:cNvPicPr>
            <a:picLocks noChangeAspect="1"/>
          </p:cNvPicPr>
          <p:nvPr/>
        </p:nvPicPr>
        <p:blipFill>
          <a:blip r:embed="rId1"/>
          <a:stretch>
            <a:fillRect/>
          </a:stretch>
        </p:blipFill>
        <p:spPr>
          <a:xfrm>
            <a:off x="5047488" y="1435608"/>
            <a:ext cx="1975104" cy="1975104"/>
          </a:xfrm>
          <a:prstGeom prst="rect">
            <a:avLst/>
          </a:prstGeom>
        </p:spPr>
      </p:pic>
      <p:sp>
        <p:nvSpPr>
          <p:cNvPr id="10" name="Text 6"/>
          <p:cNvSpPr txBox="1"/>
          <p:nvPr/>
        </p:nvSpPr>
        <p:spPr>
          <a:xfrm>
            <a:off x="4937760" y="3447288"/>
            <a:ext cx="2194560" cy="274320"/>
          </a:xfrm>
          <a:prstGeom prst="rect">
            <a:avLst/>
          </a:prstGeom>
          <a:noFill/>
          <a:ln/>
        </p:spPr>
        <p:txBody>
          <a:bodyPr wrap="square" lIns="0" tIns="0" rIns="0" bIns="0" rtlCol="0" anchor="ctr"/>
          <a:lstStyle/>
          <a:p>
            <a:pPr algn="ctr" indent="0" marL="0">
              <a:buNone/>
            </a:pPr>
            <a:r>
              <a:rPr lang="en-US" sz="1100" b="1" dirty="0">
                <a:solidFill>
                  <a:srgbClr val="1F3350"/>
                </a:solidFill>
              </a:rPr>
              <a:t>The official proposal</a:t>
            </a:r>
            <a:endParaRPr lang="en-US" sz="1100" dirty="0"/>
          </a:p>
        </p:txBody>
      </p:sp>
      <p:sp>
        <p:nvSpPr>
          <p:cNvPr id="11" name="Text 7"/>
          <p:cNvSpPr txBox="1"/>
          <p:nvPr/>
        </p:nvSpPr>
        <p:spPr>
          <a:xfrm>
            <a:off x="4983480" y="3703320"/>
            <a:ext cx="21031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Google Doc · badges, budget, timeline</a:t>
            </a:r>
            <a:endParaRPr lang="en-US" sz="700" dirty="0"/>
          </a:p>
        </p:txBody>
      </p:sp>
      <p:sp>
        <p:nvSpPr>
          <p:cNvPr id="12" name="Shape 8"/>
          <p:cNvSpPr/>
          <p:nvPr/>
        </p:nvSpPr>
        <p:spPr>
          <a:xfrm>
            <a:off x="7315200" y="1325880"/>
            <a:ext cx="1371600" cy="1874520"/>
          </a:xfrm>
          <a:prstGeom prst="roundRect">
            <a:avLst>
              <a:gd name="adj" fmla="val 4000"/>
            </a:avLst>
          </a:prstGeom>
          <a:solidFill>
            <a:srgbClr val="FFFFFF"/>
          </a:solidFill>
          <a:ln w="9525">
            <a:solidFill>
              <a:srgbClr val="B9B1A2"/>
            </a:solidFill>
            <a:prstDash val="solid"/>
          </a:ln>
        </p:spPr>
      </p:sp>
      <p:pic>
        <p:nvPicPr>
          <p:cNvPr id="13" name="Image 1" descr="/Users/user/Documents/Workspace/brophy-fpv-grant/assets/qr/dashboard.png">    </p:cNvPr>
          <p:cNvPicPr>
            <a:picLocks noChangeAspect="1"/>
          </p:cNvPicPr>
          <p:nvPr/>
        </p:nvPicPr>
        <p:blipFill>
          <a:blip r:embed="rId2"/>
          <a:stretch>
            <a:fillRect/>
          </a:stretch>
        </p:blipFill>
        <p:spPr>
          <a:xfrm>
            <a:off x="7424928" y="1435608"/>
            <a:ext cx="1152144" cy="1152144"/>
          </a:xfrm>
          <a:prstGeom prst="rect">
            <a:avLst/>
          </a:prstGeom>
        </p:spPr>
      </p:pic>
      <p:sp>
        <p:nvSpPr>
          <p:cNvPr id="14" name="Text 9"/>
          <p:cNvSpPr txBox="1"/>
          <p:nvPr/>
        </p:nvSpPr>
        <p:spPr>
          <a:xfrm>
            <a:off x="7315200" y="2624328"/>
            <a:ext cx="1371600" cy="274320"/>
          </a:xfrm>
          <a:prstGeom prst="rect">
            <a:avLst/>
          </a:prstGeom>
          <a:noFill/>
          <a:ln/>
        </p:spPr>
        <p:txBody>
          <a:bodyPr wrap="square" lIns="0" tIns="0" rIns="0" bIns="0" rtlCol="0" anchor="ctr"/>
          <a:lstStyle/>
          <a:p>
            <a:pPr algn="ctr" indent="0" marL="0">
              <a:buNone/>
            </a:pPr>
            <a:r>
              <a:rPr lang="en-US" sz="1100" b="1" dirty="0">
                <a:solidFill>
                  <a:srgbClr val="1F3350"/>
                </a:solidFill>
              </a:rPr>
              <a:t>Lab dashboard</a:t>
            </a:r>
            <a:endParaRPr lang="en-US" sz="1100" dirty="0"/>
          </a:p>
        </p:txBody>
      </p:sp>
      <p:sp>
        <p:nvSpPr>
          <p:cNvPr id="15" name="Text 10"/>
          <p:cNvSpPr txBox="1"/>
          <p:nvPr/>
        </p:nvSpPr>
        <p:spPr>
          <a:xfrm>
            <a:off x="7360920" y="2880360"/>
            <a:ext cx="128016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hours · leaderboard</a:t>
            </a:r>
            <a:endParaRPr lang="en-US" sz="700" dirty="0"/>
          </a:p>
        </p:txBody>
      </p:sp>
      <p:sp>
        <p:nvSpPr>
          <p:cNvPr id="16" name="Shape 11"/>
          <p:cNvSpPr/>
          <p:nvPr/>
        </p:nvSpPr>
        <p:spPr>
          <a:xfrm>
            <a:off x="7315200" y="3291840"/>
            <a:ext cx="1371600" cy="1874520"/>
          </a:xfrm>
          <a:prstGeom prst="roundRect">
            <a:avLst>
              <a:gd name="adj" fmla="val 4000"/>
            </a:avLst>
          </a:prstGeom>
          <a:solidFill>
            <a:srgbClr val="FFFFFF"/>
          </a:solidFill>
          <a:ln w="9525">
            <a:solidFill>
              <a:srgbClr val="B9B1A2"/>
            </a:solidFill>
            <a:prstDash val="solid"/>
          </a:ln>
        </p:spPr>
      </p:sp>
      <p:pic>
        <p:nvPicPr>
          <p:cNvPr id="17" name="Image 2" descr="/Users/user/Documents/Workspace/brophy-fpv-grant/assets/qr/flightschool.png">    </p:cNvPr>
          <p:cNvPicPr>
            <a:picLocks noChangeAspect="1"/>
          </p:cNvPicPr>
          <p:nvPr/>
        </p:nvPicPr>
        <p:blipFill>
          <a:blip r:embed="rId3"/>
          <a:stretch>
            <a:fillRect/>
          </a:stretch>
        </p:blipFill>
        <p:spPr>
          <a:xfrm>
            <a:off x="7424928" y="3401568"/>
            <a:ext cx="1152144" cy="1152144"/>
          </a:xfrm>
          <a:prstGeom prst="rect">
            <a:avLst/>
          </a:prstGeom>
        </p:spPr>
      </p:pic>
      <p:sp>
        <p:nvSpPr>
          <p:cNvPr id="18" name="Text 12"/>
          <p:cNvSpPr txBox="1"/>
          <p:nvPr/>
        </p:nvSpPr>
        <p:spPr>
          <a:xfrm>
            <a:off x="7315200" y="4590288"/>
            <a:ext cx="1371600" cy="274320"/>
          </a:xfrm>
          <a:prstGeom prst="rect">
            <a:avLst/>
          </a:prstGeom>
          <a:noFill/>
          <a:ln/>
        </p:spPr>
        <p:txBody>
          <a:bodyPr wrap="square" lIns="0" tIns="0" rIns="0" bIns="0" rtlCol="0" anchor="ctr"/>
          <a:lstStyle/>
          <a:p>
            <a:pPr algn="ctr" indent="0" marL="0">
              <a:buNone/>
            </a:pPr>
            <a:r>
              <a:rPr lang="en-US" sz="1100" b="1" dirty="0">
                <a:solidFill>
                  <a:srgbClr val="1F3350"/>
                </a:solidFill>
              </a:rPr>
              <a:t>Flight School</a:t>
            </a:r>
            <a:endParaRPr lang="en-US" sz="1100" dirty="0"/>
          </a:p>
        </p:txBody>
      </p:sp>
      <p:sp>
        <p:nvSpPr>
          <p:cNvPr id="19" name="Text 13"/>
          <p:cNvSpPr txBox="1"/>
          <p:nvPr/>
        </p:nvSpPr>
        <p:spPr>
          <a:xfrm>
            <a:off x="7360920" y="4846320"/>
            <a:ext cx="128016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all 28 badges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CE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CE0"/>
          </a:solidFill>
          <a:ln w="12700">
            <a:solidFill>
              <a:srgbClr val="F2ECE0"/>
            </a:solidFill>
            <a:prstDash val="solid"/>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300" kern="0" dirty="0">
                <a:solidFill>
                  <a:srgbClr val="8F3D12"/>
                </a:solidFill>
                <a:latin typeface="Courier New" pitchFamily="34" charset="0"/>
                <a:ea typeface="Courier New" pitchFamily="34" charset="-122"/>
                <a:cs typeface="Courier New" pitchFamily="34" charset="-120"/>
              </a:rPr>
              <a:t>THANK YOU · QUESTIONS</a:t>
            </a:r>
            <a:endParaRPr lang="en-US" sz="1000" dirty="0"/>
          </a:p>
        </p:txBody>
      </p:sp>
      <p:sp>
        <p:nvSpPr>
          <p:cNvPr id="4" name="Text 2"/>
          <p:cNvSpPr txBox="1"/>
          <p:nvPr/>
        </p:nvSpPr>
        <p:spPr>
          <a:xfrm>
            <a:off x="457200" y="530352"/>
            <a:ext cx="8229600" cy="731520"/>
          </a:xfrm>
          <a:prstGeom prst="rect">
            <a:avLst/>
          </a:prstGeom>
          <a:noFill/>
          <a:ln/>
        </p:spPr>
        <p:txBody>
          <a:bodyPr wrap="square" lIns="0" tIns="0" rIns="0" bIns="0" rtlCol="0" anchor="t"/>
          <a:lstStyle/>
          <a:p>
            <a:pPr indent="0" marL="0">
              <a:buNone/>
            </a:pPr>
            <a:r>
              <a:rPr lang="en-US" sz="3000" b="1" dirty="0">
                <a:solidFill>
                  <a:srgbClr val="1F3350"/>
                </a:solidFill>
              </a:rPr>
              <a:t>Pilots before drones. Scan anything.</a:t>
            </a:r>
            <a:endParaRPr lang="en-US" sz="3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800" spc="200" kern="0" dirty="0">
                <a:solidFill>
                  <a:srgbClr val="546881"/>
                </a:solidFill>
                <a:latin typeface="Courier New" pitchFamily="34" charset="0"/>
                <a:ea typeface="Courier New" pitchFamily="34" charset="-122"/>
                <a:cs typeface="Courier New" pitchFamily="34" charset="-120"/>
              </a:rPr>
              <a:t>14 / 14  ·  Brophy FPV Club  ·  grant 2026–27</a:t>
            </a:r>
            <a:endParaRPr lang="en-US" sz="800" dirty="0"/>
          </a:p>
        </p:txBody>
      </p:sp>
      <p:sp>
        <p:nvSpPr>
          <p:cNvPr id="7" name="Shape 4"/>
          <p:cNvSpPr/>
          <p:nvPr/>
        </p:nvSpPr>
        <p:spPr>
          <a:xfrm>
            <a:off x="457200" y="1600200"/>
            <a:ext cx="1280160" cy="1783080"/>
          </a:xfrm>
          <a:prstGeom prst="roundRect">
            <a:avLst>
              <a:gd name="adj" fmla="val 4286"/>
            </a:avLst>
          </a:prstGeom>
          <a:solidFill>
            <a:srgbClr val="FFFFFF"/>
          </a:solidFill>
          <a:ln w="19050">
            <a:solidFill>
              <a:srgbClr val="8F3D12"/>
            </a:solidFill>
            <a:prstDash val="solid"/>
          </a:ln>
        </p:spPr>
      </p:sp>
      <p:pic>
        <p:nvPicPr>
          <p:cNvPr id="8" name="Image 0" descr="/Users/user/Documents/Workspace/brophy-fpv-grant/assets/qr/proposal.png">    </p:cNvPr>
          <p:cNvPicPr>
            <a:picLocks noChangeAspect="1"/>
          </p:cNvPicPr>
          <p:nvPr/>
        </p:nvPicPr>
        <p:blipFill>
          <a:blip r:embed="rId1"/>
          <a:stretch>
            <a:fillRect/>
          </a:stretch>
        </p:blipFill>
        <p:spPr>
          <a:xfrm>
            <a:off x="566928" y="1709928"/>
            <a:ext cx="1060704" cy="1060704"/>
          </a:xfrm>
          <a:prstGeom prst="rect">
            <a:avLst/>
          </a:prstGeom>
        </p:spPr>
      </p:pic>
      <p:sp>
        <p:nvSpPr>
          <p:cNvPr id="9" name="Text 5"/>
          <p:cNvSpPr txBox="1"/>
          <p:nvPr/>
        </p:nvSpPr>
        <p:spPr>
          <a:xfrm>
            <a:off x="457200"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Proposal</a:t>
            </a:r>
            <a:endParaRPr lang="en-US" sz="1100" dirty="0"/>
          </a:p>
        </p:txBody>
      </p:sp>
      <p:sp>
        <p:nvSpPr>
          <p:cNvPr id="10" name="Text 6"/>
          <p:cNvSpPr txBox="1"/>
          <p:nvPr/>
        </p:nvSpPr>
        <p:spPr>
          <a:xfrm>
            <a:off x="502920"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the official doc</a:t>
            </a:r>
            <a:endParaRPr lang="en-US" sz="700" dirty="0"/>
          </a:p>
        </p:txBody>
      </p:sp>
      <p:sp>
        <p:nvSpPr>
          <p:cNvPr id="11" name="Shape 7"/>
          <p:cNvSpPr/>
          <p:nvPr/>
        </p:nvSpPr>
        <p:spPr>
          <a:xfrm>
            <a:off x="1847088" y="1600200"/>
            <a:ext cx="1280160" cy="1783080"/>
          </a:xfrm>
          <a:prstGeom prst="roundRect">
            <a:avLst>
              <a:gd name="adj" fmla="val 4286"/>
            </a:avLst>
          </a:prstGeom>
          <a:solidFill>
            <a:srgbClr val="FFFFFF"/>
          </a:solidFill>
          <a:ln w="9525">
            <a:solidFill>
              <a:srgbClr val="B9B1A2"/>
            </a:solidFill>
            <a:prstDash val="solid"/>
          </a:ln>
        </p:spPr>
      </p:sp>
      <p:pic>
        <p:nvPicPr>
          <p:cNvPr id="12" name="Image 1" descr="/Users/user/Documents/Workspace/brophy-fpv-grant/assets/qr/deck.png">    </p:cNvPr>
          <p:cNvPicPr>
            <a:picLocks noChangeAspect="1"/>
          </p:cNvPicPr>
          <p:nvPr/>
        </p:nvPicPr>
        <p:blipFill>
          <a:blip r:embed="rId2"/>
          <a:stretch>
            <a:fillRect/>
          </a:stretch>
        </p:blipFill>
        <p:spPr>
          <a:xfrm>
            <a:off x="1956816" y="1709928"/>
            <a:ext cx="1060704" cy="1060704"/>
          </a:xfrm>
          <a:prstGeom prst="rect">
            <a:avLst/>
          </a:prstGeom>
        </p:spPr>
      </p:pic>
      <p:sp>
        <p:nvSpPr>
          <p:cNvPr id="13" name="Text 8"/>
          <p:cNvSpPr txBox="1"/>
          <p:nvPr/>
        </p:nvSpPr>
        <p:spPr>
          <a:xfrm>
            <a:off x="1847088"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This pitch</a:t>
            </a:r>
            <a:endParaRPr lang="en-US" sz="1100" dirty="0"/>
          </a:p>
        </p:txBody>
      </p:sp>
      <p:sp>
        <p:nvSpPr>
          <p:cNvPr id="14" name="Text 9"/>
          <p:cNvSpPr txBox="1"/>
          <p:nvPr/>
        </p:nvSpPr>
        <p:spPr>
          <a:xfrm>
            <a:off x="1892808"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web deck</a:t>
            </a:r>
            <a:endParaRPr lang="en-US" sz="700" dirty="0"/>
          </a:p>
        </p:txBody>
      </p:sp>
      <p:sp>
        <p:nvSpPr>
          <p:cNvPr id="15" name="Shape 10"/>
          <p:cNvSpPr/>
          <p:nvPr/>
        </p:nvSpPr>
        <p:spPr>
          <a:xfrm>
            <a:off x="3236976" y="1600200"/>
            <a:ext cx="1280160" cy="1783080"/>
          </a:xfrm>
          <a:prstGeom prst="roundRect">
            <a:avLst>
              <a:gd name="adj" fmla="val 4286"/>
            </a:avLst>
          </a:prstGeom>
          <a:solidFill>
            <a:srgbClr val="FFFFFF"/>
          </a:solidFill>
          <a:ln w="9525">
            <a:solidFill>
              <a:srgbClr val="B9B1A2"/>
            </a:solidFill>
            <a:prstDash val="solid"/>
          </a:ln>
        </p:spPr>
      </p:sp>
      <p:pic>
        <p:nvPicPr>
          <p:cNvPr id="16" name="Image 2" descr="/Users/user/Documents/Workspace/brophy-fpv-grant/assets/qr/dashboard.png">    </p:cNvPr>
          <p:cNvPicPr>
            <a:picLocks noChangeAspect="1"/>
          </p:cNvPicPr>
          <p:nvPr/>
        </p:nvPicPr>
        <p:blipFill>
          <a:blip r:embed="rId3"/>
          <a:stretch>
            <a:fillRect/>
          </a:stretch>
        </p:blipFill>
        <p:spPr>
          <a:xfrm>
            <a:off x="3346704" y="1709928"/>
            <a:ext cx="1060704" cy="1060704"/>
          </a:xfrm>
          <a:prstGeom prst="rect">
            <a:avLst/>
          </a:prstGeom>
        </p:spPr>
      </p:pic>
      <p:sp>
        <p:nvSpPr>
          <p:cNvPr id="17" name="Text 11"/>
          <p:cNvSpPr txBox="1"/>
          <p:nvPr/>
        </p:nvSpPr>
        <p:spPr>
          <a:xfrm>
            <a:off x="3236976"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Lab dashboard</a:t>
            </a:r>
            <a:endParaRPr lang="en-US" sz="1100" dirty="0"/>
          </a:p>
        </p:txBody>
      </p:sp>
      <p:sp>
        <p:nvSpPr>
          <p:cNvPr id="18" name="Text 12"/>
          <p:cNvSpPr txBox="1"/>
          <p:nvPr/>
        </p:nvSpPr>
        <p:spPr>
          <a:xfrm>
            <a:off x="3282696"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hours · leaderboard</a:t>
            </a:r>
            <a:endParaRPr lang="en-US" sz="700" dirty="0"/>
          </a:p>
        </p:txBody>
      </p:sp>
      <p:sp>
        <p:nvSpPr>
          <p:cNvPr id="19" name="Shape 13"/>
          <p:cNvSpPr/>
          <p:nvPr/>
        </p:nvSpPr>
        <p:spPr>
          <a:xfrm>
            <a:off x="4626864" y="1600200"/>
            <a:ext cx="1280160" cy="1783080"/>
          </a:xfrm>
          <a:prstGeom prst="roundRect">
            <a:avLst>
              <a:gd name="adj" fmla="val 4286"/>
            </a:avLst>
          </a:prstGeom>
          <a:solidFill>
            <a:srgbClr val="FFFFFF"/>
          </a:solidFill>
          <a:ln w="9525">
            <a:solidFill>
              <a:srgbClr val="B9B1A2"/>
            </a:solidFill>
            <a:prstDash val="solid"/>
          </a:ln>
        </p:spPr>
      </p:sp>
      <p:pic>
        <p:nvPicPr>
          <p:cNvPr id="20" name="Image 3" descr="/Users/user/Documents/Workspace/brophy-fpv-grant/assets/qr/flightschool.png">    </p:cNvPr>
          <p:cNvPicPr>
            <a:picLocks noChangeAspect="1"/>
          </p:cNvPicPr>
          <p:nvPr/>
        </p:nvPicPr>
        <p:blipFill>
          <a:blip r:embed="rId4"/>
          <a:stretch>
            <a:fillRect/>
          </a:stretch>
        </p:blipFill>
        <p:spPr>
          <a:xfrm>
            <a:off x="4736592" y="1709928"/>
            <a:ext cx="1060704" cy="1060704"/>
          </a:xfrm>
          <a:prstGeom prst="rect">
            <a:avLst/>
          </a:prstGeom>
        </p:spPr>
      </p:pic>
      <p:sp>
        <p:nvSpPr>
          <p:cNvPr id="21" name="Text 14"/>
          <p:cNvSpPr txBox="1"/>
          <p:nvPr/>
        </p:nvSpPr>
        <p:spPr>
          <a:xfrm>
            <a:off x="4626864"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Flight School</a:t>
            </a:r>
            <a:endParaRPr lang="en-US" sz="1100" dirty="0"/>
          </a:p>
        </p:txBody>
      </p:sp>
      <p:sp>
        <p:nvSpPr>
          <p:cNvPr id="22" name="Text 15"/>
          <p:cNvSpPr txBox="1"/>
          <p:nvPr/>
        </p:nvSpPr>
        <p:spPr>
          <a:xfrm>
            <a:off x="4672584"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all 28 badges</a:t>
            </a:r>
            <a:endParaRPr lang="en-US" sz="700" dirty="0"/>
          </a:p>
        </p:txBody>
      </p:sp>
      <p:sp>
        <p:nvSpPr>
          <p:cNvPr id="23" name="Shape 16"/>
          <p:cNvSpPr/>
          <p:nvPr/>
        </p:nvSpPr>
        <p:spPr>
          <a:xfrm>
            <a:off x="6016752" y="1600200"/>
            <a:ext cx="1280160" cy="1783080"/>
          </a:xfrm>
          <a:prstGeom prst="roundRect">
            <a:avLst>
              <a:gd name="adj" fmla="val 4286"/>
            </a:avLst>
          </a:prstGeom>
          <a:solidFill>
            <a:srgbClr val="FFFFFF"/>
          </a:solidFill>
          <a:ln w="9525">
            <a:solidFill>
              <a:srgbClr val="B9B1A2"/>
            </a:solidFill>
            <a:prstDash val="solid"/>
          </a:ln>
        </p:spPr>
      </p:sp>
      <p:pic>
        <p:nvPicPr>
          <p:cNvPr id="24" name="Image 4" descr="/Users/user/Documents/Workspace/brophy-fpv-grant/assets/qr/posters.png">    </p:cNvPr>
          <p:cNvPicPr>
            <a:picLocks noChangeAspect="1"/>
          </p:cNvPicPr>
          <p:nvPr/>
        </p:nvPicPr>
        <p:blipFill>
          <a:blip r:embed="rId5"/>
          <a:stretch>
            <a:fillRect/>
          </a:stretch>
        </p:blipFill>
        <p:spPr>
          <a:xfrm>
            <a:off x="6126480" y="1709928"/>
            <a:ext cx="1060704" cy="1060704"/>
          </a:xfrm>
          <a:prstGeom prst="rect">
            <a:avLst/>
          </a:prstGeom>
        </p:spPr>
      </p:pic>
      <p:sp>
        <p:nvSpPr>
          <p:cNvPr id="25" name="Text 17"/>
          <p:cNvSpPr txBox="1"/>
          <p:nvPr/>
        </p:nvSpPr>
        <p:spPr>
          <a:xfrm>
            <a:off x="6016752"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The posters</a:t>
            </a:r>
            <a:endParaRPr lang="en-US" sz="1100" dirty="0"/>
          </a:p>
        </p:txBody>
      </p:sp>
      <p:sp>
        <p:nvSpPr>
          <p:cNvPr id="26" name="Text 18"/>
          <p:cNvSpPr txBox="1"/>
          <p:nvPr/>
        </p:nvSpPr>
        <p:spPr>
          <a:xfrm>
            <a:off x="6062472"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print-ready PDFs</a:t>
            </a:r>
            <a:endParaRPr lang="en-US" sz="700" dirty="0"/>
          </a:p>
        </p:txBody>
      </p:sp>
      <p:sp>
        <p:nvSpPr>
          <p:cNvPr id="27" name="Shape 19"/>
          <p:cNvSpPr/>
          <p:nvPr/>
        </p:nvSpPr>
        <p:spPr>
          <a:xfrm>
            <a:off x="7406640" y="1600200"/>
            <a:ext cx="1280160" cy="1783080"/>
          </a:xfrm>
          <a:prstGeom prst="roundRect">
            <a:avLst>
              <a:gd name="adj" fmla="val 4286"/>
            </a:avLst>
          </a:prstGeom>
          <a:solidFill>
            <a:srgbClr val="FFFFFF"/>
          </a:solidFill>
          <a:ln w="9525">
            <a:solidFill>
              <a:srgbClr val="B9B1A2"/>
            </a:solidFill>
            <a:prstDash val="solid"/>
          </a:ln>
        </p:spPr>
      </p:sp>
      <p:pic>
        <p:nvPicPr>
          <p:cNvPr id="28" name="Image 5" descr="/Users/user/Documents/Workspace/brophy-fpv-grant/assets/qr/playlist.png">    </p:cNvPr>
          <p:cNvPicPr>
            <a:picLocks noChangeAspect="1"/>
          </p:cNvPicPr>
          <p:nvPr/>
        </p:nvPicPr>
        <p:blipFill>
          <a:blip r:embed="rId6"/>
          <a:stretch>
            <a:fillRect/>
          </a:stretch>
        </p:blipFill>
        <p:spPr>
          <a:xfrm>
            <a:off x="7516368" y="1709928"/>
            <a:ext cx="1060704" cy="1060704"/>
          </a:xfrm>
          <a:prstGeom prst="rect">
            <a:avLst/>
          </a:prstGeom>
        </p:spPr>
      </p:pic>
      <p:sp>
        <p:nvSpPr>
          <p:cNvPr id="29" name="Text 20"/>
          <p:cNvSpPr txBox="1"/>
          <p:nvPr/>
        </p:nvSpPr>
        <p:spPr>
          <a:xfrm>
            <a:off x="7406640" y="2807208"/>
            <a:ext cx="1280160" cy="274320"/>
          </a:xfrm>
          <a:prstGeom prst="rect">
            <a:avLst/>
          </a:prstGeom>
          <a:noFill/>
          <a:ln/>
        </p:spPr>
        <p:txBody>
          <a:bodyPr wrap="square" lIns="0" tIns="0" rIns="0" bIns="0" rtlCol="0" anchor="ctr"/>
          <a:lstStyle/>
          <a:p>
            <a:pPr algn="ctr" indent="0" marL="0">
              <a:buNone/>
            </a:pPr>
            <a:r>
              <a:rPr lang="en-US" sz="1100" b="1" dirty="0">
                <a:solidFill>
                  <a:srgbClr val="1F3350"/>
                </a:solidFill>
              </a:rPr>
              <a:t>Flight reel</a:t>
            </a:r>
            <a:endParaRPr lang="en-US" sz="1100" dirty="0"/>
          </a:p>
        </p:txBody>
      </p:sp>
      <p:sp>
        <p:nvSpPr>
          <p:cNvPr id="30" name="Text 21"/>
          <p:cNvSpPr txBox="1"/>
          <p:nvPr/>
        </p:nvSpPr>
        <p:spPr>
          <a:xfrm>
            <a:off x="7452360" y="3063240"/>
            <a:ext cx="1188720" cy="274320"/>
          </a:xfrm>
          <a:prstGeom prst="rect">
            <a:avLst/>
          </a:prstGeom>
          <a:noFill/>
          <a:ln/>
        </p:spPr>
        <p:txBody>
          <a:bodyPr wrap="square" lIns="0" tIns="0" rIns="0" bIns="0" rtlCol="0" anchor="ctr"/>
          <a:lstStyle/>
          <a:p>
            <a:pPr algn="ctr" indent="0" marL="0">
              <a:buNone/>
            </a:pPr>
            <a:r>
              <a:rPr lang="en-US" sz="700" dirty="0">
                <a:solidFill>
                  <a:srgbClr val="546881"/>
                </a:solidFill>
                <a:latin typeface="Courier New" pitchFamily="34" charset="0"/>
                <a:ea typeface="Courier New" pitchFamily="34" charset="-122"/>
                <a:cs typeface="Courier New" pitchFamily="34" charset="-120"/>
              </a:rPr>
              <a:t>YouTube playlist</a:t>
            </a:r>
            <a:endParaRPr lang="en-US" sz="700" dirty="0"/>
          </a:p>
        </p:txBody>
      </p:sp>
      <p:sp>
        <p:nvSpPr>
          <p:cNvPr id="31" name="Text 22"/>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900" spc="150" kern="0" dirty="0">
                <a:solidFill>
                  <a:srgbClr val="546881"/>
                </a:solidFill>
                <a:latin typeface="Courier New" pitchFamily="34" charset="0"/>
                <a:ea typeface="Courier New" pitchFamily="34" charset="-122"/>
                <a:cs typeface="Courier New" pitchFamily="34" charset="-120"/>
              </a:rPr>
              <a:t>FPV Club · Brophy College Preparatory · Micah Tucker &amp; team · mtucker27@brophybroncos.org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Pilots before drones</dc:title>
  <dc:subject>PptxGenJS Presentation</dc:subject>
  <dc:creator>Micah Tucker</dc:creator>
  <cp:lastModifiedBy>Micah Tucker</cp:lastModifiedBy>
  <cp:revision>1</cp:revision>
  <dcterms:created xsi:type="dcterms:W3CDTF">2026-10-06T05:26:46Z</dcterms:created>
  <dcterms:modified xsi:type="dcterms:W3CDTF">2026-10-06T05:26:46Z</dcterms:modified>
</cp:coreProperties>
</file>